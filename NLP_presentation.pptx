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sldIdLst>
    <p:sldId id="256" r:id="rId2"/>
    <p:sldId id="257" r:id="rId3"/>
    <p:sldId id="258" r:id="rId4"/>
    <p:sldId id="267" r:id="rId5"/>
    <p:sldId id="277" r:id="rId6"/>
    <p:sldId id="271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9" r:id="rId17"/>
    <p:sldId id="270" r:id="rId18"/>
    <p:sldId id="272" r:id="rId19"/>
    <p:sldId id="275" r:id="rId20"/>
    <p:sldId id="276" r:id="rId21"/>
    <p:sldId id="273" r:id="rId22"/>
    <p:sldId id="274" r:id="rId2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94660"/>
  </p:normalViewPr>
  <p:slideViewPr>
    <p:cSldViewPr snapToGrid="0">
      <p:cViewPr varScale="1">
        <p:scale>
          <a:sx n="87" d="100"/>
          <a:sy n="87" d="100"/>
        </p:scale>
        <p:origin x="57" y="3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693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568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96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14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9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637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29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90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20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23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472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94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199D1C7-964F-82AF-F8D5-D225875491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02091"/>
            <a:ext cx="3291840" cy="2770216"/>
          </a:xfrm>
        </p:spPr>
        <p:txBody>
          <a:bodyPr anchor="t">
            <a:normAutofit/>
          </a:bodyPr>
          <a:lstStyle/>
          <a:p>
            <a:r>
              <a:rPr lang="it-IT" sz="4400" dirty="0"/>
              <a:t>Natural Language Processing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B30FDC2-F8E7-2C3F-9E6D-D1492934E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846904"/>
            <a:ext cx="3145535" cy="993821"/>
          </a:xfrm>
        </p:spPr>
        <p:txBody>
          <a:bodyPr anchor="t">
            <a:normAutofit/>
          </a:bodyPr>
          <a:lstStyle/>
          <a:p>
            <a:r>
              <a:rPr lang="it-IT" dirty="0"/>
              <a:t>Prompt </a:t>
            </a:r>
            <a:r>
              <a:rPr lang="it-IT" dirty="0" err="1"/>
              <a:t>evolution</a:t>
            </a:r>
            <a:r>
              <a:rPr lang="it-IT" dirty="0"/>
              <a:t> and </a:t>
            </a:r>
            <a:r>
              <a:rPr lang="it-IT" dirty="0" err="1"/>
              <a:t>optimization</a:t>
            </a:r>
            <a:endParaRPr lang="it-IT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6622C28-3D44-B5E6-F791-947BF6853E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58"/>
          <a:stretch>
            <a:fillRect/>
          </a:stretch>
        </p:blipFill>
        <p:spPr>
          <a:xfrm>
            <a:off x="4443984" y="1410753"/>
            <a:ext cx="7086600" cy="398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19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68B2599-37D6-5E74-F234-0281AEE71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it-IT" dirty="0" err="1"/>
              <a:t>Objective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41DB09-6381-7F02-0ADF-C3FFCF45A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61673"/>
            <a:ext cx="10890929" cy="3536241"/>
          </a:xfrm>
        </p:spPr>
        <p:txBody>
          <a:bodyPr>
            <a:normAutofit/>
          </a:bodyPr>
          <a:lstStyle/>
          <a:p>
            <a:r>
              <a:rPr lang="it-IT" dirty="0"/>
              <a:t>The </a:t>
            </a:r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objective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understanding</a:t>
            </a:r>
            <a:r>
              <a:rPr lang="it-IT" dirty="0"/>
              <a:t> of prompt engineering and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impacts the </a:t>
            </a:r>
            <a:r>
              <a:rPr lang="it-IT" dirty="0" err="1"/>
              <a:t>answer</a:t>
            </a:r>
            <a:r>
              <a:rPr lang="it-IT" dirty="0"/>
              <a:t> of a model</a:t>
            </a:r>
          </a:p>
          <a:p>
            <a:r>
              <a:rPr lang="it-IT" dirty="0"/>
              <a:t>The </a:t>
            </a:r>
            <a:r>
              <a:rPr lang="it-IT" dirty="0" err="1"/>
              <a:t>main</a:t>
            </a:r>
            <a:r>
              <a:rPr lang="it-IT" dirty="0"/>
              <a:t> focus </a:t>
            </a:r>
            <a:r>
              <a:rPr lang="it-IT" dirty="0" err="1"/>
              <a:t>is</a:t>
            </a:r>
            <a:r>
              <a:rPr lang="it-IT" dirty="0"/>
              <a:t> to use a generative AI to generate new prompts </a:t>
            </a:r>
            <a:r>
              <a:rPr lang="it-IT" dirty="0" err="1"/>
              <a:t>that</a:t>
            </a:r>
            <a:r>
              <a:rPr lang="it-IT" dirty="0"/>
              <a:t> are more competitive </a:t>
            </a:r>
            <a:r>
              <a:rPr lang="it-IT" dirty="0" err="1"/>
              <a:t>than</a:t>
            </a:r>
            <a:r>
              <a:rPr lang="it-IT" dirty="0"/>
              <a:t> the </a:t>
            </a:r>
            <a:r>
              <a:rPr lang="it-IT" dirty="0" err="1"/>
              <a:t>previous</a:t>
            </a:r>
            <a:r>
              <a:rPr lang="it-IT" dirty="0"/>
              <a:t> one and </a:t>
            </a:r>
            <a:r>
              <a:rPr lang="it-IT" dirty="0" err="1"/>
              <a:t>that</a:t>
            </a:r>
            <a:r>
              <a:rPr lang="it-IT" dirty="0"/>
              <a:t> can </a:t>
            </a:r>
            <a:r>
              <a:rPr lang="it-IT" dirty="0" err="1"/>
              <a:t>better</a:t>
            </a:r>
            <a:r>
              <a:rPr lang="it-IT" dirty="0"/>
              <a:t> solve </a:t>
            </a:r>
            <a:r>
              <a:rPr lang="it-IT" dirty="0" err="1"/>
              <a:t>generic</a:t>
            </a:r>
            <a:r>
              <a:rPr lang="it-IT" dirty="0"/>
              <a:t> </a:t>
            </a:r>
            <a:r>
              <a:rPr lang="it-IT" dirty="0" err="1"/>
              <a:t>logical</a:t>
            </a:r>
            <a:r>
              <a:rPr lang="it-IT" dirty="0"/>
              <a:t> </a:t>
            </a:r>
            <a:r>
              <a:rPr lang="it-IT" dirty="0" err="1"/>
              <a:t>problems</a:t>
            </a:r>
            <a:endParaRPr lang="it-IT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368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F8296C5-EAF9-F29D-961B-AD32CA3B2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it-IT" dirty="0"/>
              <a:t>How the system works</a:t>
            </a:r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53FD512B-1369-C338-1490-AFBEB8080D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246" r="12692" b="2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9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A5264CF-8315-1025-0B18-14228FED1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r>
              <a:rPr lang="it-IT" dirty="0"/>
              <a:t>The first </a:t>
            </a:r>
            <a:r>
              <a:rPr lang="it-IT" dirty="0" err="1"/>
              <a:t>module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called</a:t>
            </a:r>
            <a:r>
              <a:rPr lang="it-IT" dirty="0"/>
              <a:t> </a:t>
            </a:r>
            <a:r>
              <a:rPr lang="it-IT" dirty="0" err="1"/>
              <a:t>data_handler</a:t>
            </a:r>
            <a:r>
              <a:rPr lang="it-IT" dirty="0"/>
              <a:t> and </a:t>
            </a:r>
            <a:r>
              <a:rPr lang="it-IT" dirty="0" err="1"/>
              <a:t>it’s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to </a:t>
            </a:r>
            <a:r>
              <a:rPr lang="it-IT" dirty="0" err="1"/>
              <a:t>manage</a:t>
            </a:r>
            <a:r>
              <a:rPr lang="it-IT" dirty="0"/>
              <a:t> the data </a:t>
            </a:r>
            <a:r>
              <a:rPr lang="it-IT" dirty="0" err="1"/>
              <a:t>retrieved</a:t>
            </a:r>
            <a:r>
              <a:rPr lang="it-IT" dirty="0"/>
              <a:t> from BIG </a:t>
            </a:r>
            <a:r>
              <a:rPr lang="it-IT" dirty="0" err="1"/>
              <a:t>Bench</a:t>
            </a:r>
            <a:endParaRPr lang="it-IT" dirty="0"/>
          </a:p>
          <a:p>
            <a:r>
              <a:rPr lang="it-IT" dirty="0"/>
              <a:t>Second </a:t>
            </a:r>
            <a:r>
              <a:rPr lang="it-IT" dirty="0" err="1"/>
              <a:t>module</a:t>
            </a:r>
            <a:r>
              <a:rPr lang="it-IT" dirty="0"/>
              <a:t>, </a:t>
            </a:r>
            <a:r>
              <a:rPr lang="it-IT" dirty="0" err="1"/>
              <a:t>llm_client</a:t>
            </a:r>
            <a:r>
              <a:rPr lang="it-IT" dirty="0"/>
              <a:t>, </a:t>
            </a:r>
            <a:r>
              <a:rPr lang="it-IT" dirty="0" err="1"/>
              <a:t>sends</a:t>
            </a:r>
            <a:r>
              <a:rPr lang="it-IT" dirty="0"/>
              <a:t> the </a:t>
            </a:r>
            <a:r>
              <a:rPr lang="it-IT" dirty="0" err="1"/>
              <a:t>request</a:t>
            </a:r>
            <a:r>
              <a:rPr lang="it-IT" dirty="0"/>
              <a:t> to the model and </a:t>
            </a:r>
            <a:r>
              <a:rPr lang="it-IT" dirty="0" err="1"/>
              <a:t>generates</a:t>
            </a:r>
            <a:r>
              <a:rPr lang="it-IT" dirty="0"/>
              <a:t> </a:t>
            </a:r>
            <a:r>
              <a:rPr lang="it-IT" dirty="0" err="1"/>
              <a:t>answer</a:t>
            </a:r>
            <a:r>
              <a:rPr lang="it-IT" dirty="0"/>
              <a:t>.</a:t>
            </a:r>
          </a:p>
          <a:p>
            <a:r>
              <a:rPr lang="it-IT" dirty="0"/>
              <a:t>The </a:t>
            </a:r>
            <a:r>
              <a:rPr lang="it-IT" dirty="0" err="1"/>
              <a:t>third</a:t>
            </a:r>
            <a:r>
              <a:rPr lang="it-IT" dirty="0"/>
              <a:t> and last </a:t>
            </a:r>
            <a:r>
              <a:rPr lang="it-IT" dirty="0" err="1"/>
              <a:t>module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prompt_evolver</a:t>
            </a:r>
            <a:r>
              <a:rPr lang="it-IT" dirty="0"/>
              <a:t>, and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core of the project: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gets</a:t>
            </a:r>
            <a:r>
              <a:rPr lang="it-IT" dirty="0"/>
              <a:t> the </a:t>
            </a:r>
            <a:r>
              <a:rPr lang="it-IT" dirty="0" err="1"/>
              <a:t>answer</a:t>
            </a:r>
            <a:r>
              <a:rPr lang="it-IT" dirty="0"/>
              <a:t>, </a:t>
            </a:r>
            <a:r>
              <a:rPr lang="it-IT" dirty="0" err="1"/>
              <a:t>evaluate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a </a:t>
            </a:r>
            <a:r>
              <a:rPr lang="it-IT" dirty="0" err="1"/>
              <a:t>llm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judge</a:t>
            </a:r>
            <a:r>
              <a:rPr lang="it-IT" dirty="0"/>
              <a:t> and </a:t>
            </a:r>
            <a:r>
              <a:rPr lang="it-IT" dirty="0" err="1"/>
              <a:t>run</a:t>
            </a:r>
            <a:r>
              <a:rPr lang="it-IT" dirty="0"/>
              <a:t> the </a:t>
            </a:r>
            <a:r>
              <a:rPr lang="it-IT" dirty="0" err="1"/>
              <a:t>evolution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a </a:t>
            </a:r>
            <a:r>
              <a:rPr lang="it-IT" dirty="0" err="1"/>
              <a:t>simple</a:t>
            </a:r>
            <a:r>
              <a:rPr lang="it-IT" dirty="0"/>
              <a:t> score </a:t>
            </a:r>
            <a:r>
              <a:rPr lang="it-IT" dirty="0" err="1"/>
              <a:t>metric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stores </a:t>
            </a:r>
            <a:r>
              <a:rPr lang="it-IT" dirty="0" err="1"/>
              <a:t>during</a:t>
            </a:r>
            <a:r>
              <a:rPr lang="it-IT" dirty="0"/>
              <a:t> training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94921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86157A-FE5A-09FA-A137-4E02C9B45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Answer</a:t>
            </a:r>
            <a:r>
              <a:rPr lang="it-IT" dirty="0"/>
              <a:t> </a:t>
            </a:r>
            <a:r>
              <a:rPr lang="it-IT" dirty="0" err="1"/>
              <a:t>evaluation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A2EE8B-983B-6501-894A-B46C77F0E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answer</a:t>
            </a:r>
            <a:r>
              <a:rPr lang="it-IT" dirty="0"/>
              <a:t> </a:t>
            </a:r>
            <a:r>
              <a:rPr lang="it-IT" dirty="0" err="1"/>
              <a:t>evaluation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llm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judge</a:t>
            </a:r>
            <a:r>
              <a:rPr lang="it-IT" dirty="0"/>
              <a:t>. The first </a:t>
            </a:r>
            <a:r>
              <a:rPr lang="it-IT" dirty="0" err="1"/>
              <a:t>studied</a:t>
            </a:r>
            <a:r>
              <a:rPr lang="it-IT" dirty="0"/>
              <a:t> model </a:t>
            </a:r>
            <a:r>
              <a:rPr lang="it-IT" dirty="0" err="1"/>
              <a:t>wasn’t</a:t>
            </a:r>
            <a:r>
              <a:rPr lang="it-IT" dirty="0"/>
              <a:t> </a:t>
            </a:r>
            <a:r>
              <a:rPr lang="it-IT" dirty="0" err="1"/>
              <a:t>really</a:t>
            </a:r>
            <a:r>
              <a:rPr lang="it-IT" dirty="0"/>
              <a:t> </a:t>
            </a:r>
            <a:r>
              <a:rPr lang="it-IT" dirty="0" err="1"/>
              <a:t>evaluated</a:t>
            </a:r>
            <a:r>
              <a:rPr lang="it-IT" dirty="0"/>
              <a:t> </a:t>
            </a:r>
            <a:r>
              <a:rPr lang="it-IT" dirty="0" err="1"/>
              <a:t>because</a:t>
            </a:r>
            <a:r>
              <a:rPr lang="it-IT" dirty="0"/>
              <a:t>,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seen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wasn’t</a:t>
            </a:r>
            <a:r>
              <a:rPr lang="it-IT" dirty="0"/>
              <a:t> </a:t>
            </a:r>
            <a:r>
              <a:rPr lang="it-IT" dirty="0" err="1"/>
              <a:t>able</a:t>
            </a:r>
            <a:r>
              <a:rPr lang="it-IT" dirty="0"/>
              <a:t> to solve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 and </a:t>
            </a:r>
            <a:r>
              <a:rPr lang="it-IT" dirty="0" err="1"/>
              <a:t>suffered</a:t>
            </a:r>
            <a:r>
              <a:rPr lang="it-IT" dirty="0"/>
              <a:t> </a:t>
            </a:r>
            <a:r>
              <a:rPr lang="it-IT" dirty="0" err="1"/>
              <a:t>heavily</a:t>
            </a:r>
            <a:r>
              <a:rPr lang="it-IT" dirty="0"/>
              <a:t> from </a:t>
            </a:r>
            <a:r>
              <a:rPr lang="it-IT" dirty="0" err="1"/>
              <a:t>hallucinations</a:t>
            </a:r>
            <a:r>
              <a:rPr lang="it-IT" dirty="0"/>
              <a:t>.</a:t>
            </a:r>
          </a:p>
          <a:p>
            <a:r>
              <a:rPr lang="it-IT" dirty="0"/>
              <a:t>The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models </a:t>
            </a:r>
            <a:r>
              <a:rPr lang="it-IT" dirty="0" err="1"/>
              <a:t>instead</a:t>
            </a:r>
            <a:r>
              <a:rPr lang="it-IT" dirty="0"/>
              <a:t> are </a:t>
            </a:r>
            <a:r>
              <a:rPr lang="it-IT" dirty="0" err="1"/>
              <a:t>able</a:t>
            </a:r>
            <a:r>
              <a:rPr lang="it-IT" dirty="0"/>
              <a:t> to </a:t>
            </a:r>
            <a:r>
              <a:rPr lang="it-IT" dirty="0" err="1"/>
              <a:t>reason</a:t>
            </a:r>
            <a:r>
              <a:rPr lang="it-IT" dirty="0"/>
              <a:t> </a:t>
            </a:r>
            <a:r>
              <a:rPr lang="it-IT" dirty="0" err="1"/>
              <a:t>correctly</a:t>
            </a:r>
            <a:r>
              <a:rPr lang="it-IT" dirty="0"/>
              <a:t>, the </a:t>
            </a:r>
            <a:r>
              <a:rPr lang="it-IT" dirty="0" err="1"/>
              <a:t>smaller</a:t>
            </a:r>
            <a:r>
              <a:rPr lang="it-IT" dirty="0"/>
              <a:t> model </a:t>
            </a:r>
            <a:r>
              <a:rPr lang="it-IT" dirty="0" err="1"/>
              <a:t>presents</a:t>
            </a:r>
            <a:r>
              <a:rPr lang="it-IT" dirty="0"/>
              <a:t> </a:t>
            </a:r>
            <a:r>
              <a:rPr lang="it-IT" dirty="0" err="1"/>
              <a:t>limits</a:t>
            </a:r>
            <a:r>
              <a:rPr lang="it-IT" dirty="0"/>
              <a:t> in the </a:t>
            </a:r>
            <a:r>
              <a:rPr lang="it-IT" dirty="0" err="1"/>
              <a:t>reasoning</a:t>
            </a:r>
            <a:r>
              <a:rPr lang="it-IT" dirty="0"/>
              <a:t>, </a:t>
            </a:r>
            <a:r>
              <a:rPr lang="it-IT" dirty="0" err="1"/>
              <a:t>while</a:t>
            </a:r>
            <a:r>
              <a:rPr lang="it-IT" dirty="0"/>
              <a:t> the last model </a:t>
            </a:r>
            <a:r>
              <a:rPr lang="it-IT" dirty="0" err="1"/>
              <a:t>used</a:t>
            </a:r>
            <a:r>
              <a:rPr lang="it-IT" dirty="0"/>
              <a:t> (7B </a:t>
            </a:r>
            <a:r>
              <a:rPr lang="it-IT" dirty="0" err="1"/>
              <a:t>parameters</a:t>
            </a:r>
            <a:r>
              <a:rPr lang="it-IT" dirty="0"/>
              <a:t>)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much</a:t>
            </a:r>
            <a:r>
              <a:rPr lang="it-IT" dirty="0"/>
              <a:t> </a:t>
            </a:r>
            <a:r>
              <a:rPr lang="it-IT" dirty="0" err="1"/>
              <a:t>better</a:t>
            </a:r>
            <a:r>
              <a:rPr lang="it-IT" dirty="0"/>
              <a:t>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much</a:t>
            </a:r>
            <a:r>
              <a:rPr lang="it-IT" dirty="0"/>
              <a:t> more </a:t>
            </a:r>
            <a:r>
              <a:rPr lang="it-IT" dirty="0" err="1"/>
              <a:t>costly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0503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2FBA75-B502-DD66-47D0-8E5D1A54A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Prompt </a:t>
            </a:r>
            <a:r>
              <a:rPr lang="it-IT" dirty="0" err="1"/>
              <a:t>evolution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5F75C8-5AA9-3DBE-21D8-A4DFA7385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evolution</a:t>
            </a:r>
            <a:r>
              <a:rPr lang="it-IT" dirty="0"/>
              <a:t> of the prompt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in </a:t>
            </a:r>
            <a:r>
              <a:rPr lang="it-IT" dirty="0" err="1"/>
              <a:t>two</a:t>
            </a:r>
            <a:r>
              <a:rPr lang="it-IT" dirty="0"/>
              <a:t> stages:</a:t>
            </a:r>
          </a:p>
          <a:p>
            <a:r>
              <a:rPr lang="it-IT" dirty="0"/>
              <a:t>A single </a:t>
            </a:r>
            <a:r>
              <a:rPr lang="it-IT" dirty="0" err="1"/>
              <a:t>error</a:t>
            </a:r>
            <a:r>
              <a:rPr lang="it-IT" dirty="0"/>
              <a:t> of the </a:t>
            </a:r>
            <a:r>
              <a:rPr lang="it-IT" dirty="0" err="1"/>
              <a:t>resolver</a:t>
            </a:r>
            <a:r>
              <a:rPr lang="it-IT" dirty="0"/>
              <a:t> on a </a:t>
            </a:r>
            <a:r>
              <a:rPr lang="it-IT" dirty="0" err="1"/>
              <a:t>certain</a:t>
            </a:r>
            <a:r>
              <a:rPr lang="it-IT" dirty="0"/>
              <a:t> prompt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passed</a:t>
            </a:r>
            <a:r>
              <a:rPr lang="it-IT" dirty="0"/>
              <a:t> in a prompt to the evolver and </a:t>
            </a:r>
            <a:r>
              <a:rPr lang="it-IT" dirty="0" err="1"/>
              <a:t>evaluated</a:t>
            </a:r>
            <a:r>
              <a:rPr lang="it-IT" dirty="0"/>
              <a:t>, and an </a:t>
            </a:r>
            <a:r>
              <a:rPr lang="it-IT" dirty="0" err="1"/>
              <a:t>abstraction</a:t>
            </a:r>
            <a:r>
              <a:rPr lang="it-IT" dirty="0"/>
              <a:t> of the </a:t>
            </a:r>
            <a:r>
              <a:rPr lang="it-IT" dirty="0" err="1"/>
              <a:t>error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from </a:t>
            </a:r>
            <a:r>
              <a:rPr lang="it-IT" dirty="0" err="1"/>
              <a:t>it</a:t>
            </a:r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abstraction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passed</a:t>
            </a:r>
            <a:r>
              <a:rPr lang="it-IT" dirty="0"/>
              <a:t> to the second prompt and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 to </a:t>
            </a:r>
            <a:r>
              <a:rPr lang="it-IT" dirty="0" err="1"/>
              <a:t>generates</a:t>
            </a:r>
            <a:r>
              <a:rPr lang="it-IT" dirty="0"/>
              <a:t> a new, </a:t>
            </a:r>
            <a:r>
              <a:rPr lang="it-IT" dirty="0" err="1"/>
              <a:t>improved</a:t>
            </a:r>
            <a:r>
              <a:rPr lang="it-IT" dirty="0"/>
              <a:t> prompt.</a:t>
            </a:r>
          </a:p>
          <a:p>
            <a:r>
              <a:rPr lang="it-IT" dirty="0"/>
              <a:t>The new prompt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tested</a:t>
            </a:r>
            <a:r>
              <a:rPr lang="it-IT" dirty="0"/>
              <a:t> and,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perform</a:t>
            </a:r>
            <a:r>
              <a:rPr lang="it-IT" dirty="0"/>
              <a:t> </a:t>
            </a:r>
            <a:r>
              <a:rPr lang="it-IT" dirty="0" err="1"/>
              <a:t>better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the </a:t>
            </a:r>
            <a:r>
              <a:rPr lang="it-IT" dirty="0" err="1"/>
              <a:t>old</a:t>
            </a:r>
            <a:r>
              <a:rPr lang="it-IT" dirty="0"/>
              <a:t> best prompt, </a:t>
            </a:r>
            <a:r>
              <a:rPr lang="it-IT" dirty="0" err="1"/>
              <a:t>it’s</a:t>
            </a:r>
            <a:r>
              <a:rPr lang="it-IT" dirty="0"/>
              <a:t> </a:t>
            </a:r>
            <a:r>
              <a:rPr lang="it-IT" dirty="0" err="1"/>
              <a:t>taken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the new </a:t>
            </a:r>
            <a:r>
              <a:rPr lang="it-IT" dirty="0" err="1"/>
              <a:t>champion</a:t>
            </a:r>
            <a:r>
              <a:rPr lang="it-IT" dirty="0"/>
              <a:t> (</a:t>
            </a:r>
            <a:r>
              <a:rPr lang="it-IT" dirty="0" err="1"/>
              <a:t>similarly</a:t>
            </a:r>
            <a:r>
              <a:rPr lang="it-IT" dirty="0"/>
              <a:t> to </a:t>
            </a:r>
            <a:r>
              <a:rPr lang="it-IT" dirty="0" err="1"/>
              <a:t>genetic</a:t>
            </a:r>
            <a:r>
              <a:rPr lang="it-IT" dirty="0"/>
              <a:t> </a:t>
            </a:r>
            <a:r>
              <a:rPr lang="it-IT" dirty="0" err="1"/>
              <a:t>algorithm</a:t>
            </a:r>
            <a:r>
              <a:rPr lang="it-IT" dirty="0"/>
              <a:t>)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0584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81FF9D-C360-DA2B-DACF-5DD2B5D1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Metric</a:t>
            </a:r>
            <a:r>
              <a:rPr lang="it-IT" dirty="0"/>
              <a:t> </a:t>
            </a:r>
            <a:r>
              <a:rPr lang="it-IT" dirty="0" err="1"/>
              <a:t>used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407261-9F1F-C7E7-3E6A-2D2A8505D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batch </a:t>
            </a:r>
            <a:r>
              <a:rPr lang="it-IT" dirty="0" err="1"/>
              <a:t>evaluation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, and for </a:t>
            </a:r>
            <a:r>
              <a:rPr lang="it-IT" dirty="0" err="1"/>
              <a:t>each</a:t>
            </a:r>
            <a:r>
              <a:rPr lang="it-IT" dirty="0"/>
              <a:t> of the n steps of </a:t>
            </a:r>
            <a:r>
              <a:rPr lang="it-IT" dirty="0" err="1"/>
              <a:t>evolution</a:t>
            </a:r>
            <a:r>
              <a:rPr lang="it-IT" dirty="0"/>
              <a:t> (so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possible</a:t>
            </a:r>
            <a:r>
              <a:rPr lang="it-IT" dirty="0"/>
              <a:t> to </a:t>
            </a:r>
            <a:r>
              <a:rPr lang="it-IT" dirty="0" err="1"/>
              <a:t>choose</a:t>
            </a:r>
            <a:r>
              <a:rPr lang="it-IT" dirty="0"/>
              <a:t>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many</a:t>
            </a:r>
            <a:r>
              <a:rPr lang="it-IT" dirty="0"/>
              <a:t> prompts generate) the </a:t>
            </a:r>
            <a:r>
              <a:rPr lang="it-IT" dirty="0" err="1"/>
              <a:t>algorithm</a:t>
            </a:r>
            <a:r>
              <a:rPr lang="it-IT" dirty="0"/>
              <a:t> </a:t>
            </a:r>
            <a:r>
              <a:rPr lang="it-IT" dirty="0" err="1"/>
              <a:t>gets</a:t>
            </a:r>
            <a:r>
              <a:rPr lang="it-IT" dirty="0"/>
              <a:t> a finite </a:t>
            </a:r>
            <a:r>
              <a:rPr lang="it-IT" dirty="0" err="1"/>
              <a:t>number</a:t>
            </a:r>
            <a:r>
              <a:rPr lang="it-IT" dirty="0"/>
              <a:t> m of samples from the training set(</a:t>
            </a:r>
            <a:r>
              <a:rPr lang="it-IT" dirty="0" err="1"/>
              <a:t>they</a:t>
            </a:r>
            <a:r>
              <a:rPr lang="it-IT" dirty="0"/>
              <a:t> are the </a:t>
            </a:r>
            <a:r>
              <a:rPr lang="it-IT" dirty="0" err="1"/>
              <a:t>same</a:t>
            </a:r>
            <a:r>
              <a:rPr lang="it-IT" dirty="0"/>
              <a:t> for </a:t>
            </a:r>
            <a:r>
              <a:rPr lang="it-IT" dirty="0" err="1"/>
              <a:t>all</a:t>
            </a:r>
            <a:r>
              <a:rPr lang="it-IT" dirty="0"/>
              <a:t> the prompts) and </a:t>
            </a:r>
            <a:r>
              <a:rPr lang="it-IT" dirty="0" err="1"/>
              <a:t>tests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on the prompt, </a:t>
            </a:r>
            <a:r>
              <a:rPr lang="it-IT" dirty="0" err="1"/>
              <a:t>then</a:t>
            </a:r>
            <a:r>
              <a:rPr lang="it-IT" dirty="0"/>
              <a:t> the </a:t>
            </a:r>
            <a:r>
              <a:rPr lang="it-IT" dirty="0" err="1"/>
              <a:t>accuracy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calculated</a:t>
            </a:r>
            <a:r>
              <a:rPr lang="it-IT" dirty="0"/>
              <a:t> from the </a:t>
            </a:r>
            <a:r>
              <a:rPr lang="it-IT" dirty="0" err="1"/>
              <a:t>llm</a:t>
            </a:r>
            <a:r>
              <a:rPr lang="it-IT" dirty="0"/>
              <a:t> </a:t>
            </a:r>
            <a:r>
              <a:rPr lang="it-IT" dirty="0" err="1"/>
              <a:t>judge</a:t>
            </a:r>
            <a:r>
              <a:rPr lang="it-IT" dirty="0"/>
              <a:t>, </a:t>
            </a:r>
            <a:r>
              <a:rPr lang="it-IT" dirty="0" err="1"/>
              <a:t>meaning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dirty="0" err="1"/>
              <a:t>answers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classifies</a:t>
            </a:r>
            <a:r>
              <a:rPr lang="it-IT" dirty="0"/>
              <a:t> </a:t>
            </a:r>
            <a:r>
              <a:rPr lang="it-IT" dirty="0" err="1"/>
              <a:t>correctly</a:t>
            </a:r>
            <a:r>
              <a:rPr lang="it-IT" dirty="0"/>
              <a:t> are </a:t>
            </a:r>
            <a:r>
              <a:rPr lang="it-IT" dirty="0" err="1"/>
              <a:t>actually</a:t>
            </a:r>
            <a:r>
              <a:rPr lang="it-IT" dirty="0"/>
              <a:t> </a:t>
            </a:r>
            <a:r>
              <a:rPr lang="it-IT" dirty="0" err="1"/>
              <a:t>contributing</a:t>
            </a:r>
            <a:r>
              <a:rPr lang="it-IT" dirty="0"/>
              <a:t> to the </a:t>
            </a:r>
            <a:r>
              <a:rPr lang="it-IT" dirty="0" err="1"/>
              <a:t>final</a:t>
            </a:r>
            <a:r>
              <a:rPr lang="it-IT" dirty="0"/>
              <a:t> score of the prompt. In the end the best prompt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given</a:t>
            </a:r>
            <a:r>
              <a:rPr lang="it-IT" dirty="0"/>
              <a:t> and </a:t>
            </a:r>
            <a:r>
              <a:rPr lang="it-IT" dirty="0" err="1"/>
              <a:t>tested</a:t>
            </a:r>
            <a:r>
              <a:rPr lang="it-IT" dirty="0"/>
              <a:t> on random </a:t>
            </a:r>
            <a:r>
              <a:rPr lang="it-IT" dirty="0" err="1"/>
              <a:t>logic</a:t>
            </a:r>
            <a:r>
              <a:rPr lang="it-IT" dirty="0"/>
              <a:t> </a:t>
            </a:r>
            <a:r>
              <a:rPr lang="it-IT" dirty="0" err="1"/>
              <a:t>problems</a:t>
            </a:r>
            <a:r>
              <a:rPr lang="it-IT" dirty="0"/>
              <a:t> </a:t>
            </a:r>
            <a:r>
              <a:rPr lang="it-IT" dirty="0" err="1"/>
              <a:t>drawn</a:t>
            </a:r>
            <a:r>
              <a:rPr lang="it-IT" dirty="0"/>
              <a:t> from the </a:t>
            </a:r>
            <a:r>
              <a:rPr lang="it-IT" dirty="0" err="1"/>
              <a:t>evaluation</a:t>
            </a:r>
            <a:r>
              <a:rPr lang="it-IT" dirty="0"/>
              <a:t> set </a:t>
            </a:r>
            <a:r>
              <a:rPr lang="it-IT" dirty="0" err="1"/>
              <a:t>against</a:t>
            </a:r>
            <a:r>
              <a:rPr lang="it-IT" dirty="0"/>
              <a:t> the </a:t>
            </a:r>
            <a:r>
              <a:rPr lang="it-IT" dirty="0" err="1"/>
              <a:t>initial</a:t>
            </a:r>
            <a:r>
              <a:rPr lang="it-IT" dirty="0"/>
              <a:t> prompt to check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actual</a:t>
            </a:r>
            <a:r>
              <a:rPr lang="it-IT" dirty="0"/>
              <a:t> </a:t>
            </a:r>
            <a:r>
              <a:rPr lang="it-IT" dirty="0" err="1"/>
              <a:t>improvement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32910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CA989A7-FE2D-AE16-0AB0-F3574C9AB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070143" cy="1839433"/>
          </a:xfrm>
        </p:spPr>
        <p:txBody>
          <a:bodyPr>
            <a:normAutofit/>
          </a:bodyPr>
          <a:lstStyle/>
          <a:p>
            <a:r>
              <a:rPr lang="it-IT" dirty="0" err="1"/>
              <a:t>Qwen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D87E15-7AD9-F77F-9596-68B465DA2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86" y="1010097"/>
            <a:ext cx="6141734" cy="5314686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it-IT" dirty="0"/>
              <a:t>I </a:t>
            </a:r>
            <a:r>
              <a:rPr lang="it-IT" dirty="0" err="1"/>
              <a:t>used</a:t>
            </a:r>
            <a:r>
              <a:rPr lang="it-IT" dirty="0"/>
              <a:t> </a:t>
            </a:r>
            <a:r>
              <a:rPr lang="it-IT" dirty="0" err="1"/>
              <a:t>Qwen</a:t>
            </a:r>
            <a:r>
              <a:rPr lang="it-IT" dirty="0"/>
              <a:t> 0.5B </a:t>
            </a:r>
            <a:r>
              <a:rPr lang="it-IT" dirty="0" err="1"/>
              <a:t>as</a:t>
            </a:r>
            <a:r>
              <a:rPr lang="it-IT" dirty="0"/>
              <a:t> a first </a:t>
            </a:r>
            <a:r>
              <a:rPr lang="it-IT" dirty="0" err="1"/>
              <a:t>try</a:t>
            </a:r>
            <a:r>
              <a:rPr lang="it-IT" dirty="0"/>
              <a:t>, a </a:t>
            </a:r>
            <a:r>
              <a:rPr lang="it-IT" dirty="0" err="1"/>
              <a:t>little</a:t>
            </a:r>
            <a:r>
              <a:rPr lang="it-IT" dirty="0"/>
              <a:t> model with </a:t>
            </a:r>
            <a:r>
              <a:rPr lang="it-IT" dirty="0" err="1"/>
              <a:t>very</a:t>
            </a:r>
            <a:r>
              <a:rPr lang="it-IT" dirty="0"/>
              <a:t> </a:t>
            </a:r>
            <a:r>
              <a:rPr lang="it-IT" dirty="0" err="1"/>
              <a:t>few</a:t>
            </a:r>
            <a:r>
              <a:rPr lang="it-IT" dirty="0"/>
              <a:t> </a:t>
            </a:r>
            <a:r>
              <a:rPr lang="it-IT" dirty="0" err="1"/>
              <a:t>parameters</a:t>
            </a:r>
            <a:r>
              <a:rPr lang="it-IT" dirty="0"/>
              <a:t>. </a:t>
            </a:r>
            <a:r>
              <a:rPr lang="it-IT" dirty="0" err="1"/>
              <a:t>Even</a:t>
            </a:r>
            <a:r>
              <a:rPr lang="it-IT" dirty="0"/>
              <a:t> the prompt evolver(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to propose new prompt) </a:t>
            </a:r>
            <a:r>
              <a:rPr lang="it-IT" dirty="0" err="1"/>
              <a:t>wasn’t</a:t>
            </a:r>
            <a:r>
              <a:rPr lang="it-IT" dirty="0"/>
              <a:t> </a:t>
            </a:r>
            <a:r>
              <a:rPr lang="it-IT" dirty="0" err="1"/>
              <a:t>able</a:t>
            </a:r>
            <a:r>
              <a:rPr lang="it-IT" dirty="0"/>
              <a:t> to </a:t>
            </a:r>
            <a:r>
              <a:rPr lang="it-IT" dirty="0" err="1"/>
              <a:t>adapt</a:t>
            </a:r>
            <a:r>
              <a:rPr lang="it-IT" dirty="0"/>
              <a:t> </a:t>
            </a:r>
            <a:r>
              <a:rPr lang="it-IT" dirty="0" err="1"/>
              <a:t>well</a:t>
            </a:r>
            <a:r>
              <a:rPr lang="it-IT" dirty="0"/>
              <a:t>. </a:t>
            </a:r>
            <a:r>
              <a:rPr lang="en-US" dirty="0"/>
              <a:t>Such a small model wasn't able</a:t>
            </a:r>
            <a:r>
              <a:rPr lang="it-IT" dirty="0"/>
              <a:t> to handle the </a:t>
            </a:r>
            <a:r>
              <a:rPr lang="it-IT" dirty="0" err="1"/>
              <a:t>reasoning</a:t>
            </a:r>
            <a:r>
              <a:rPr lang="it-IT" dirty="0"/>
              <a:t> and,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trying</a:t>
            </a:r>
            <a:r>
              <a:rPr lang="it-IT" dirty="0"/>
              <a:t> to generate code to </a:t>
            </a:r>
            <a:r>
              <a:rPr lang="it-IT" dirty="0" err="1"/>
              <a:t>order</a:t>
            </a:r>
            <a:r>
              <a:rPr lang="it-IT" dirty="0"/>
              <a:t> the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had</a:t>
            </a:r>
            <a:r>
              <a:rPr lang="it-IT" dirty="0"/>
              <a:t> to solve, the </a:t>
            </a:r>
            <a:r>
              <a:rPr lang="it-IT" dirty="0" err="1"/>
              <a:t>reason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a complete </a:t>
            </a:r>
            <a:r>
              <a:rPr lang="it-IT" dirty="0" err="1"/>
              <a:t>failure</a:t>
            </a:r>
            <a:r>
              <a:rPr lang="it-IT" dirty="0"/>
              <a:t>. </a:t>
            </a:r>
            <a:r>
              <a:rPr lang="it-IT" dirty="0" err="1"/>
              <a:t>Failing</a:t>
            </a:r>
            <a:r>
              <a:rPr lang="it-IT" dirty="0"/>
              <a:t> </a:t>
            </a:r>
            <a:r>
              <a:rPr lang="it-IT" dirty="0" err="1"/>
              <a:t>even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the </a:t>
            </a:r>
            <a:r>
              <a:rPr lang="it-IT" dirty="0" err="1"/>
              <a:t>basic</a:t>
            </a:r>
            <a:r>
              <a:rPr lang="it-IT" dirty="0"/>
              <a:t> </a:t>
            </a:r>
            <a:r>
              <a:rPr lang="it-IT" dirty="0" err="1"/>
              <a:t>level</a:t>
            </a:r>
            <a:r>
              <a:rPr lang="it-IT" dirty="0"/>
              <a:t>, like to use &lt;</a:t>
            </a:r>
            <a:r>
              <a:rPr lang="it-IT" dirty="0" err="1"/>
              <a:t>answer</a:t>
            </a:r>
            <a:r>
              <a:rPr lang="it-IT" dirty="0"/>
              <a:t>&gt; after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reasoning</a:t>
            </a:r>
            <a:r>
              <a:rPr lang="it-IT" dirty="0"/>
              <a:t>, made the model produce </a:t>
            </a:r>
            <a:r>
              <a:rPr lang="it-IT" dirty="0" err="1"/>
              <a:t>useless</a:t>
            </a:r>
            <a:r>
              <a:rPr lang="it-IT" dirty="0"/>
              <a:t> </a:t>
            </a:r>
            <a:r>
              <a:rPr lang="it-IT" dirty="0" err="1"/>
              <a:t>noise</a:t>
            </a:r>
            <a:r>
              <a:rPr lang="it-IT" dirty="0"/>
              <a:t>,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eventually</a:t>
            </a:r>
            <a:r>
              <a:rPr lang="it-IT" dirty="0"/>
              <a:t> </a:t>
            </a:r>
            <a:r>
              <a:rPr lang="it-IT" dirty="0" err="1"/>
              <a:t>caused</a:t>
            </a:r>
            <a:r>
              <a:rPr lang="it-IT" dirty="0"/>
              <a:t> a prompt drift </a:t>
            </a:r>
            <a:r>
              <a:rPr lang="it-IT" dirty="0" err="1"/>
              <a:t>where</a:t>
            </a:r>
            <a:r>
              <a:rPr lang="it-IT" dirty="0"/>
              <a:t> the model </a:t>
            </a:r>
            <a:r>
              <a:rPr lang="it-IT" dirty="0" err="1"/>
              <a:t>started</a:t>
            </a:r>
            <a:r>
              <a:rPr lang="it-IT" dirty="0"/>
              <a:t> to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code,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linked</a:t>
            </a:r>
            <a:r>
              <a:rPr lang="it-IT" dirty="0"/>
              <a:t> to the task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had</a:t>
            </a:r>
            <a:r>
              <a:rPr lang="it-IT" dirty="0"/>
              <a:t> to solve</a:t>
            </a:r>
          </a:p>
        </p:txBody>
      </p:sp>
    </p:spTree>
    <p:extLst>
      <p:ext uri="{BB962C8B-B14F-4D97-AF65-F5344CB8AC3E}">
        <p14:creationId xmlns:p14="http://schemas.microsoft.com/office/powerpoint/2010/main" val="1286723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951E57D-5EC9-D8E2-D07D-BAC168183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it-IT" dirty="0" err="1"/>
              <a:t>Visible</a:t>
            </a:r>
            <a:r>
              <a:rPr lang="it-IT" dirty="0"/>
              <a:t> </a:t>
            </a:r>
            <a:r>
              <a:rPr lang="it-IT" dirty="0" err="1"/>
              <a:t>hallucination</a:t>
            </a:r>
            <a:endParaRPr lang="it-IT" dirty="0"/>
          </a:p>
        </p:txBody>
      </p:sp>
      <p:pic>
        <p:nvPicPr>
          <p:cNvPr id="5" name="Picture 4" descr="Triangoli colorate che creano un design continuo">
            <a:extLst>
              <a:ext uri="{FF2B5EF4-FFF2-40B4-BE49-F238E27FC236}">
                <a16:creationId xmlns:a16="http://schemas.microsoft.com/office/drawing/2014/main" id="{671F558C-9158-790A-9685-00557697CC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62" r="23154" b="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F4A758-9D41-018A-91AB-65D2DACFC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r>
              <a:rPr lang="it-IT" dirty="0"/>
              <a:t>A model with </a:t>
            </a:r>
            <a:r>
              <a:rPr lang="it-IT" dirty="0" err="1"/>
              <a:t>such</a:t>
            </a:r>
            <a:r>
              <a:rPr lang="it-IT" dirty="0"/>
              <a:t> a </a:t>
            </a:r>
            <a:r>
              <a:rPr lang="it-IT" dirty="0" err="1"/>
              <a:t>modest</a:t>
            </a:r>
            <a:r>
              <a:rPr lang="it-IT" dirty="0"/>
              <a:t> </a:t>
            </a:r>
            <a:r>
              <a:rPr lang="it-IT" dirty="0" err="1"/>
              <a:t>level</a:t>
            </a:r>
            <a:r>
              <a:rPr lang="it-IT" dirty="0"/>
              <a:t> of </a:t>
            </a:r>
            <a:r>
              <a:rPr lang="it-IT" dirty="0" err="1"/>
              <a:t>abstraction</a:t>
            </a:r>
            <a:r>
              <a:rPr lang="it-IT" dirty="0"/>
              <a:t>, </a:t>
            </a:r>
            <a:r>
              <a:rPr lang="it-IT" dirty="0" err="1"/>
              <a:t>unable</a:t>
            </a:r>
            <a:r>
              <a:rPr lang="it-IT" dirty="0"/>
              <a:t> to </a:t>
            </a:r>
            <a:r>
              <a:rPr lang="it-IT" dirty="0" err="1"/>
              <a:t>reason</a:t>
            </a:r>
            <a:r>
              <a:rPr lang="it-IT" dirty="0"/>
              <a:t> </a:t>
            </a:r>
            <a:r>
              <a:rPr lang="it-IT" dirty="0" err="1"/>
              <a:t>correctly</a:t>
            </a:r>
            <a:r>
              <a:rPr lang="it-IT" dirty="0"/>
              <a:t>,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losing</a:t>
            </a:r>
            <a:r>
              <a:rPr lang="it-IT" dirty="0"/>
              <a:t> track of </a:t>
            </a:r>
            <a:r>
              <a:rPr lang="it-IT" dirty="0" err="1"/>
              <a:t>what</a:t>
            </a:r>
            <a:r>
              <a:rPr lang="it-IT" dirty="0"/>
              <a:t> to generate, </a:t>
            </a:r>
            <a:r>
              <a:rPr lang="it-IT" dirty="0" err="1"/>
              <a:t>started</a:t>
            </a:r>
            <a:r>
              <a:rPr lang="it-IT" dirty="0"/>
              <a:t> to </a:t>
            </a:r>
            <a:r>
              <a:rPr lang="it-IT" dirty="0" err="1"/>
              <a:t>hallucinate</a:t>
            </a:r>
            <a:r>
              <a:rPr lang="it-IT" dirty="0"/>
              <a:t> and generate code in </a:t>
            </a:r>
            <a:r>
              <a:rPr lang="it-IT" dirty="0" err="1"/>
              <a:t>Chinese</a:t>
            </a:r>
            <a:r>
              <a:rPr lang="it-IT" dirty="0"/>
              <a:t> (</a:t>
            </a:r>
            <a:r>
              <a:rPr lang="it-IT" dirty="0" err="1"/>
              <a:t>surprisingly</a:t>
            </a:r>
            <a:r>
              <a:rPr lang="it-IT" dirty="0"/>
              <a:t> the words </a:t>
            </a:r>
            <a:r>
              <a:rPr lang="it-IT" dirty="0" err="1"/>
              <a:t>used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linked</a:t>
            </a:r>
            <a:r>
              <a:rPr lang="it-IT" dirty="0"/>
              <a:t> to the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explored</a:t>
            </a:r>
            <a:r>
              <a:rPr lang="it-IT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221794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4234CCD-F65A-9270-1F82-33697FFCD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9128" y="525426"/>
            <a:ext cx="2811879" cy="9035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>
                <a:latin typeface="+mj-lt"/>
                <a:ea typeface="+mj-ea"/>
                <a:cs typeface="+mj-cs"/>
              </a:rPr>
              <a:t>1.8B model</a:t>
            </a:r>
          </a:p>
        </p:txBody>
      </p:sp>
      <p:pic>
        <p:nvPicPr>
          <p:cNvPr id="5" name="Picture 4" descr="Grafico">
            <a:extLst>
              <a:ext uri="{FF2B5EF4-FFF2-40B4-BE49-F238E27FC236}">
                <a16:creationId xmlns:a16="http://schemas.microsoft.com/office/drawing/2014/main" id="{78F6ADB0-8E9F-D9A3-7C41-BA30FC2D89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17" r="5819" b="2"/>
          <a:stretch>
            <a:fillRect/>
          </a:stretch>
        </p:blipFill>
        <p:spPr>
          <a:xfrm>
            <a:off x="20" y="535709"/>
            <a:ext cx="8229580" cy="582064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B2016F-26F9-A40B-1293-D32CF1F94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127" y="1529252"/>
            <a:ext cx="2811880" cy="49005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cap="all" spc="300" dirty="0"/>
              <a:t>Next step was trying to use a model with more parameters like Qwen 1.8B, which gave much better performance.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900" b="1" cap="all" spc="300" dirty="0"/>
              <a:t>It was able to follow small instructions and understand reasoning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900" b="1" cap="all" spc="300" dirty="0"/>
          </a:p>
          <a:p>
            <a:pPr marL="0" indent="0">
              <a:lnSpc>
                <a:spcPct val="110000"/>
              </a:lnSpc>
              <a:buNone/>
            </a:pPr>
            <a:endParaRPr lang="en-US" sz="1900" b="1" cap="all" spc="300" dirty="0"/>
          </a:p>
          <a:p>
            <a:pPr marL="0" indent="0">
              <a:lnSpc>
                <a:spcPct val="110000"/>
              </a:lnSpc>
              <a:buNone/>
            </a:pPr>
            <a:endParaRPr lang="en-US" sz="1900" b="1" cap="all" spc="300" dirty="0"/>
          </a:p>
        </p:txBody>
      </p:sp>
    </p:spTree>
    <p:extLst>
      <p:ext uri="{BB962C8B-B14F-4D97-AF65-F5344CB8AC3E}">
        <p14:creationId xmlns:p14="http://schemas.microsoft.com/office/powerpoint/2010/main" val="190636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9E61402-3E7C-1893-B798-24603711E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it-IT" dirty="0"/>
              <a:t>Model </a:t>
            </a:r>
            <a:r>
              <a:rPr lang="it-IT" dirty="0" err="1"/>
              <a:t>limit</a:t>
            </a:r>
            <a:endParaRPr lang="it-IT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CEA68A-D84F-42C0-2964-FC2D25921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can handle small </a:t>
            </a:r>
            <a:r>
              <a:rPr lang="it-IT" dirty="0" err="1"/>
              <a:t>instructions</a:t>
            </a:r>
            <a:r>
              <a:rPr lang="it-IT" dirty="0"/>
              <a:t>, </a:t>
            </a:r>
            <a:r>
              <a:rPr lang="it-IT" dirty="0" err="1"/>
              <a:t>trying</a:t>
            </a:r>
            <a:r>
              <a:rPr lang="it-IT" dirty="0"/>
              <a:t> to put a set of rules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too</a:t>
            </a:r>
            <a:r>
              <a:rPr lang="it-IT" dirty="0"/>
              <a:t> hard for the model, </a:t>
            </a:r>
            <a:r>
              <a:rPr lang="it-IT" dirty="0" err="1"/>
              <a:t>especially</a:t>
            </a:r>
            <a:r>
              <a:rPr lang="it-IT" dirty="0"/>
              <a:t> tasks </a:t>
            </a:r>
            <a:r>
              <a:rPr lang="it-IT" dirty="0" err="1"/>
              <a:t>such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DO NOT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ignored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misinterpreted</a:t>
            </a:r>
            <a:r>
              <a:rPr lang="it-IT" dirty="0"/>
              <a:t>. The prompt evolver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provided</a:t>
            </a:r>
            <a:r>
              <a:rPr lang="it-IT" dirty="0"/>
              <a:t> with </a:t>
            </a:r>
            <a:r>
              <a:rPr lang="it-IT" dirty="0" err="1"/>
              <a:t>specifical</a:t>
            </a:r>
            <a:r>
              <a:rPr lang="it-IT" dirty="0"/>
              <a:t> </a:t>
            </a:r>
            <a:r>
              <a:rPr lang="it-IT" dirty="0" err="1"/>
              <a:t>instructions</a:t>
            </a:r>
            <a:r>
              <a:rPr lang="it-IT" dirty="0"/>
              <a:t> for </a:t>
            </a:r>
            <a:r>
              <a:rPr lang="it-IT" dirty="0" err="1"/>
              <a:t>this</a:t>
            </a:r>
            <a:r>
              <a:rPr lang="it-IT" dirty="0"/>
              <a:t> model, in </a:t>
            </a:r>
            <a:r>
              <a:rPr lang="it-IT" dirty="0" err="1"/>
              <a:t>such</a:t>
            </a:r>
            <a:r>
              <a:rPr lang="it-IT" dirty="0"/>
              <a:t> a way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provides</a:t>
            </a:r>
            <a:r>
              <a:rPr lang="it-IT" dirty="0"/>
              <a:t> easy prompt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too</a:t>
            </a:r>
            <a:r>
              <a:rPr lang="it-IT" dirty="0"/>
              <a:t>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reasoning</a:t>
            </a:r>
            <a:r>
              <a:rPr lang="it-IT" dirty="0"/>
              <a:t> </a:t>
            </a:r>
            <a:r>
              <a:rPr lang="it-IT" dirty="0" err="1"/>
              <a:t>involved</a:t>
            </a:r>
            <a:r>
              <a:rPr lang="it-IT" dirty="0"/>
              <a:t>, </a:t>
            </a:r>
            <a:r>
              <a:rPr lang="it-IT" dirty="0" err="1"/>
              <a:t>that</a:t>
            </a:r>
            <a:r>
              <a:rPr lang="it-IT" dirty="0"/>
              <a:t> just confuse </a:t>
            </a:r>
            <a:r>
              <a:rPr lang="it-IT" dirty="0" err="1"/>
              <a:t>it</a:t>
            </a:r>
            <a:r>
              <a:rPr lang="it-IT" dirty="0"/>
              <a:t>.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45BAEFA5-6D96-08B4-8CCC-D4F55CD3CD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8" r="51012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043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8DD4075-14FD-4D4B-DEC3-84183123F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it-IT" dirty="0" err="1"/>
              <a:t>Few</a:t>
            </a:r>
            <a:r>
              <a:rPr lang="it-IT" dirty="0"/>
              <a:t> shot </a:t>
            </a:r>
            <a:r>
              <a:rPr lang="it-IT" dirty="0" err="1"/>
              <a:t>prompting</a:t>
            </a:r>
            <a:endParaRPr lang="it-I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2BF26-DD39-E362-6C29-0444E2DCF1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73" r="47283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F2A5D7-EFFB-522E-E41D-BEB6F2F0B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it-IT" dirty="0" err="1"/>
              <a:t>Instead</a:t>
            </a:r>
            <a:r>
              <a:rPr lang="it-IT" dirty="0"/>
              <a:t> of </a:t>
            </a:r>
            <a:r>
              <a:rPr lang="it-IT" dirty="0" err="1"/>
              <a:t>using</a:t>
            </a:r>
            <a:r>
              <a:rPr lang="it-IT" dirty="0"/>
              <a:t> a </a:t>
            </a:r>
            <a:r>
              <a:rPr lang="it-IT" dirty="0" err="1"/>
              <a:t>ruleset</a:t>
            </a:r>
            <a:r>
              <a:rPr lang="it-IT" dirty="0"/>
              <a:t> I </a:t>
            </a:r>
            <a:r>
              <a:rPr lang="it-IT" dirty="0" err="1"/>
              <a:t>decided</a:t>
            </a:r>
            <a:r>
              <a:rPr lang="it-IT" dirty="0"/>
              <a:t> to </a:t>
            </a:r>
            <a:r>
              <a:rPr lang="it-IT" dirty="0" err="1"/>
              <a:t>try</a:t>
            </a:r>
            <a:r>
              <a:rPr lang="it-IT" dirty="0"/>
              <a:t> </a:t>
            </a:r>
            <a:r>
              <a:rPr lang="it-IT" dirty="0" err="1"/>
              <a:t>few</a:t>
            </a:r>
            <a:r>
              <a:rPr lang="it-IT" dirty="0"/>
              <a:t> shot </a:t>
            </a:r>
            <a:r>
              <a:rPr lang="it-IT" dirty="0" err="1"/>
              <a:t>prompting</a:t>
            </a:r>
            <a:r>
              <a:rPr lang="it-IT" dirty="0"/>
              <a:t>, giving </a:t>
            </a:r>
            <a:r>
              <a:rPr lang="it-IT" dirty="0" err="1"/>
              <a:t>both</a:t>
            </a:r>
            <a:r>
              <a:rPr lang="it-IT" dirty="0"/>
              <a:t> negative </a:t>
            </a:r>
            <a:r>
              <a:rPr lang="it-IT" dirty="0" err="1"/>
              <a:t>examples</a:t>
            </a:r>
            <a:r>
              <a:rPr lang="it-IT" dirty="0"/>
              <a:t> and positive </a:t>
            </a:r>
            <a:r>
              <a:rPr lang="it-IT" dirty="0" err="1"/>
              <a:t>ones</a:t>
            </a:r>
            <a:r>
              <a:rPr lang="it-IT" dirty="0"/>
              <a:t>, and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contributed</a:t>
            </a:r>
            <a:r>
              <a:rPr lang="it-IT" dirty="0"/>
              <a:t> </a:t>
            </a:r>
            <a:r>
              <a:rPr lang="it-IT" dirty="0" err="1"/>
              <a:t>vastly</a:t>
            </a:r>
            <a:r>
              <a:rPr lang="it-IT" dirty="0"/>
              <a:t> to </a:t>
            </a:r>
            <a:r>
              <a:rPr lang="it-IT" dirty="0" err="1"/>
              <a:t>boost</a:t>
            </a:r>
            <a:r>
              <a:rPr lang="it-IT" dirty="0"/>
              <a:t> the performance of the model.</a:t>
            </a:r>
          </a:p>
          <a:p>
            <a:pPr>
              <a:lnSpc>
                <a:spcPct val="110000"/>
              </a:lnSpc>
            </a:pPr>
            <a:r>
              <a:rPr lang="it-IT" dirty="0"/>
              <a:t>For the </a:t>
            </a:r>
            <a:r>
              <a:rPr lang="it-IT" dirty="0" err="1"/>
              <a:t>answer</a:t>
            </a:r>
            <a:r>
              <a:rPr lang="it-IT" dirty="0"/>
              <a:t> </a:t>
            </a:r>
            <a:r>
              <a:rPr lang="it-IT" dirty="0" err="1"/>
              <a:t>construction</a:t>
            </a:r>
            <a:r>
              <a:rPr lang="it-IT" dirty="0"/>
              <a:t> 150 tokens </a:t>
            </a:r>
            <a:r>
              <a:rPr lang="it-IT" dirty="0" err="1"/>
              <a:t>were</a:t>
            </a:r>
            <a:r>
              <a:rPr lang="it-IT" dirty="0"/>
              <a:t> </a:t>
            </a:r>
            <a:r>
              <a:rPr lang="it-IT" dirty="0" err="1"/>
              <a:t>too</a:t>
            </a:r>
            <a:r>
              <a:rPr lang="it-IT" dirty="0"/>
              <a:t> </a:t>
            </a:r>
            <a:r>
              <a:rPr lang="it-IT" dirty="0" err="1"/>
              <a:t>few</a:t>
            </a:r>
            <a:r>
              <a:rPr lang="it-IT" dirty="0"/>
              <a:t> and the model,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started</a:t>
            </a:r>
            <a:r>
              <a:rPr lang="it-IT" dirty="0"/>
              <a:t> to </a:t>
            </a:r>
            <a:r>
              <a:rPr lang="it-IT" dirty="0" err="1"/>
              <a:t>reason</a:t>
            </a:r>
            <a:r>
              <a:rPr lang="it-IT" dirty="0"/>
              <a:t>, </a:t>
            </a:r>
            <a:r>
              <a:rPr lang="it-IT" dirty="0" err="1"/>
              <a:t>wasn’t</a:t>
            </a:r>
            <a:r>
              <a:rPr lang="it-IT" dirty="0"/>
              <a:t> </a:t>
            </a:r>
            <a:r>
              <a:rPr lang="it-IT" dirty="0" err="1"/>
              <a:t>able</a:t>
            </a:r>
            <a:r>
              <a:rPr lang="it-IT" dirty="0"/>
              <a:t> to finish the </a:t>
            </a:r>
            <a:r>
              <a:rPr lang="it-IT" dirty="0" err="1"/>
              <a:t>reasoning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68226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D4D304F-3421-1469-18FD-CFB07AC61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it-IT" dirty="0"/>
              <a:t>Token </a:t>
            </a:r>
            <a:r>
              <a:rPr lang="it-IT" dirty="0" err="1"/>
              <a:t>limit</a:t>
            </a:r>
            <a:endParaRPr lang="it-IT" dirty="0"/>
          </a:p>
        </p:txBody>
      </p:sp>
      <p:pic>
        <p:nvPicPr>
          <p:cNvPr id="5" name="Picture 4" descr="Un punto interrogativo su una barra della macchina da scrivere">
            <a:extLst>
              <a:ext uri="{FF2B5EF4-FFF2-40B4-BE49-F238E27FC236}">
                <a16:creationId xmlns:a16="http://schemas.microsoft.com/office/drawing/2014/main" id="{FF0B4D45-92A7-C97F-D87D-3F4303F1F7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991" r="11726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13B461-E8EC-4BAA-0731-8C0E96F96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r>
              <a:rPr lang="it-IT" dirty="0" err="1"/>
              <a:t>Boosting</a:t>
            </a:r>
            <a:r>
              <a:rPr lang="it-IT" dirty="0"/>
              <a:t> the token </a:t>
            </a:r>
            <a:r>
              <a:rPr lang="it-IT" dirty="0" err="1"/>
              <a:t>limit</a:t>
            </a:r>
            <a:r>
              <a:rPr lang="it-IT" dirty="0"/>
              <a:t> </a:t>
            </a:r>
            <a:r>
              <a:rPr lang="it-IT" dirty="0" err="1"/>
              <a:t>easily</a:t>
            </a:r>
            <a:r>
              <a:rPr lang="it-IT" dirty="0"/>
              <a:t> </a:t>
            </a:r>
            <a:r>
              <a:rPr lang="it-IT" dirty="0" err="1"/>
              <a:t>solved</a:t>
            </a:r>
            <a:r>
              <a:rPr lang="it-IT" dirty="0"/>
              <a:t> the </a:t>
            </a:r>
            <a:r>
              <a:rPr lang="it-IT" dirty="0" err="1"/>
              <a:t>problem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see</a:t>
            </a:r>
            <a:r>
              <a:rPr lang="it-IT" dirty="0"/>
              <a:t> on the </a:t>
            </a:r>
            <a:r>
              <a:rPr lang="it-IT" dirty="0" err="1"/>
              <a:t>left</a:t>
            </a:r>
            <a:r>
              <a:rPr lang="it-IT" dirty="0"/>
              <a:t>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characters</a:t>
            </a:r>
            <a:r>
              <a:rPr lang="it-IT" dirty="0"/>
              <a:t> a model </a:t>
            </a:r>
            <a:r>
              <a:rPr lang="it-IT" dirty="0" err="1"/>
              <a:t>had</a:t>
            </a:r>
            <a:r>
              <a:rPr lang="it-IT" dirty="0"/>
              <a:t> to </a:t>
            </a:r>
            <a:r>
              <a:rPr lang="it-IT" dirty="0" err="1"/>
              <a:t>write</a:t>
            </a:r>
            <a:r>
              <a:rPr lang="it-IT" dirty="0"/>
              <a:t> and so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crucial</a:t>
            </a:r>
            <a:r>
              <a:rPr lang="it-IT" dirty="0"/>
              <a:t> to </a:t>
            </a:r>
            <a:r>
              <a:rPr lang="it-IT" dirty="0" err="1"/>
              <a:t>extend</a:t>
            </a:r>
            <a:r>
              <a:rPr lang="it-IT" dirty="0"/>
              <a:t> the token </a:t>
            </a:r>
            <a:r>
              <a:rPr lang="it-IT" dirty="0" err="1"/>
              <a:t>limits</a:t>
            </a:r>
            <a:r>
              <a:rPr lang="it-IT" dirty="0"/>
              <a:t> to </a:t>
            </a:r>
            <a:r>
              <a:rPr lang="it-IT" dirty="0" err="1"/>
              <a:t>let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the </a:t>
            </a:r>
            <a:r>
              <a:rPr lang="it-IT" dirty="0" err="1"/>
              <a:t>judge</a:t>
            </a:r>
            <a:r>
              <a:rPr lang="it-IT" dirty="0"/>
              <a:t> and the model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anwers</a:t>
            </a:r>
            <a:r>
              <a:rPr lang="it-IT" dirty="0"/>
              <a:t> to </a:t>
            </a:r>
            <a:r>
              <a:rPr lang="it-IT" dirty="0" err="1"/>
              <a:t>logical</a:t>
            </a:r>
            <a:r>
              <a:rPr lang="it-IT" dirty="0"/>
              <a:t> </a:t>
            </a:r>
            <a:r>
              <a:rPr lang="it-IT" dirty="0" err="1"/>
              <a:t>problems</a:t>
            </a:r>
            <a:r>
              <a:rPr lang="it-IT" dirty="0"/>
              <a:t> </a:t>
            </a:r>
            <a:r>
              <a:rPr lang="it-IT" dirty="0" err="1"/>
              <a:t>reason</a:t>
            </a:r>
            <a:r>
              <a:rPr lang="it-IT" dirty="0"/>
              <a:t> </a:t>
            </a:r>
            <a:r>
              <a:rPr lang="it-IT" dirty="0" err="1"/>
              <a:t>correctly</a:t>
            </a:r>
            <a:r>
              <a:rPr lang="it-IT" dirty="0"/>
              <a:t>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474B2700-C489-89D1-9220-BFE0543F0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74" y="242656"/>
            <a:ext cx="4206527" cy="207346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AF8CB277-6934-F14D-E62E-D511906AFC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5" y="3647873"/>
            <a:ext cx="4202495" cy="207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04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4C897DE-483F-4D2E-F8AC-C0680BC59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it-IT" sz="3400"/>
              <a:t>Model </a:t>
            </a:r>
            <a:r>
              <a:rPr lang="it-IT" sz="3400" err="1"/>
              <a:t>collapse</a:t>
            </a:r>
            <a:r>
              <a:rPr lang="it-IT" sz="3400"/>
              <a:t> </a:t>
            </a:r>
            <a:r>
              <a:rPr lang="it-IT" sz="3400" err="1"/>
              <a:t>during</a:t>
            </a:r>
            <a:r>
              <a:rPr lang="it-IT" sz="3400"/>
              <a:t> </a:t>
            </a:r>
            <a:r>
              <a:rPr lang="it-IT" sz="3400" err="1"/>
              <a:t>reasoning</a:t>
            </a:r>
            <a:endParaRPr lang="it-IT" sz="3400"/>
          </a:p>
        </p:txBody>
      </p:sp>
      <p:pic>
        <p:nvPicPr>
          <p:cNvPr id="5" name="Picture 4" descr="Bilancia digitale con cerchi">
            <a:extLst>
              <a:ext uri="{FF2B5EF4-FFF2-40B4-BE49-F238E27FC236}">
                <a16:creationId xmlns:a16="http://schemas.microsoft.com/office/drawing/2014/main" id="{6B7A8191-DEF8-E72D-1005-9BEC826CEE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81" r="27264" b="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DCD4DD-FF34-6F16-CCC1-FDDA0D41B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6821" y="2633236"/>
            <a:ext cx="6034187" cy="3664687"/>
          </a:xfrm>
        </p:spPr>
        <p:txBody>
          <a:bodyPr>
            <a:normAutofit/>
          </a:bodyPr>
          <a:lstStyle/>
          <a:p>
            <a:r>
              <a:rPr lang="it-IT" dirty="0" err="1"/>
              <a:t>While</a:t>
            </a:r>
            <a:r>
              <a:rPr lang="it-IT" dirty="0"/>
              <a:t> the evolver </a:t>
            </a:r>
            <a:r>
              <a:rPr lang="it-IT" dirty="0" err="1"/>
              <a:t>understands</a:t>
            </a:r>
            <a:r>
              <a:rPr lang="it-IT" dirty="0"/>
              <a:t> </a:t>
            </a:r>
            <a:r>
              <a:rPr lang="it-IT" dirty="0" err="1"/>
              <a:t>its</a:t>
            </a:r>
            <a:r>
              <a:rPr lang="it-IT" dirty="0"/>
              <a:t> task (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instructions</a:t>
            </a:r>
            <a:r>
              <a:rPr lang="it-IT" dirty="0"/>
              <a:t> or </a:t>
            </a:r>
            <a:r>
              <a:rPr lang="it-IT" dirty="0" err="1"/>
              <a:t>logical</a:t>
            </a:r>
            <a:r>
              <a:rPr lang="it-IT" dirty="0"/>
              <a:t> thinking) the model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lacking</a:t>
            </a:r>
            <a:r>
              <a:rPr lang="it-IT" dirty="0"/>
              <a:t> </a:t>
            </a:r>
            <a:r>
              <a:rPr lang="it-IT" dirty="0" err="1"/>
              <a:t>during</a:t>
            </a:r>
            <a:r>
              <a:rPr lang="it-IT" dirty="0"/>
              <a:t> the </a:t>
            </a:r>
            <a:r>
              <a:rPr lang="it-IT" dirty="0" err="1"/>
              <a:t>reasoning</a:t>
            </a:r>
            <a:r>
              <a:rPr lang="it-IT" dirty="0"/>
              <a:t> part, and, </a:t>
            </a:r>
            <a:r>
              <a:rPr lang="it-IT" dirty="0" err="1"/>
              <a:t>while</a:t>
            </a:r>
            <a:r>
              <a:rPr lang="it-IT" dirty="0"/>
              <a:t> the </a:t>
            </a:r>
            <a:r>
              <a:rPr lang="it-IT" dirty="0" err="1"/>
              <a:t>reasoning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</a:t>
            </a:r>
            <a:r>
              <a:rPr lang="it-IT" dirty="0" err="1"/>
              <a:t>feel</a:t>
            </a:r>
            <a:r>
              <a:rPr lang="it-IT" dirty="0"/>
              <a:t> </a:t>
            </a:r>
            <a:r>
              <a:rPr lang="it-IT" dirty="0" err="1"/>
              <a:t>sometimes</a:t>
            </a:r>
            <a:r>
              <a:rPr lang="it-IT" dirty="0"/>
              <a:t> </a:t>
            </a:r>
            <a:r>
              <a:rPr lang="it-IT" dirty="0" err="1"/>
              <a:t>correct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wasn’t</a:t>
            </a:r>
            <a:r>
              <a:rPr lang="it-IT" dirty="0"/>
              <a:t> </a:t>
            </a:r>
            <a:r>
              <a:rPr lang="it-IT" dirty="0" err="1"/>
              <a:t>really</a:t>
            </a:r>
            <a:r>
              <a:rPr lang="it-IT" dirty="0"/>
              <a:t> </a:t>
            </a:r>
            <a:r>
              <a:rPr lang="it-IT" dirty="0" err="1"/>
              <a:t>able</a:t>
            </a:r>
            <a:r>
              <a:rPr lang="it-IT" dirty="0"/>
              <a:t> to </a:t>
            </a:r>
            <a:r>
              <a:rPr lang="it-IT" dirty="0" err="1"/>
              <a:t>understand</a:t>
            </a:r>
            <a:r>
              <a:rPr lang="it-IT" dirty="0"/>
              <a:t>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doing</a:t>
            </a:r>
            <a:r>
              <a:rPr lang="it-IT" dirty="0"/>
              <a:t>. In </a:t>
            </a:r>
            <a:r>
              <a:rPr lang="it-IT" dirty="0" err="1"/>
              <a:t>particular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wasn’t</a:t>
            </a:r>
            <a:r>
              <a:rPr lang="it-IT" dirty="0"/>
              <a:t> </a:t>
            </a:r>
            <a:r>
              <a:rPr lang="it-IT" dirty="0" err="1"/>
              <a:t>able</a:t>
            </a:r>
            <a:r>
              <a:rPr lang="it-IT" dirty="0"/>
              <a:t> to </a:t>
            </a:r>
            <a:r>
              <a:rPr lang="it-IT" dirty="0" err="1"/>
              <a:t>count</a:t>
            </a:r>
            <a:r>
              <a:rPr lang="it-IT" dirty="0"/>
              <a:t> </a:t>
            </a:r>
            <a:r>
              <a:rPr lang="it-IT" dirty="0" err="1"/>
              <a:t>properly</a:t>
            </a:r>
            <a:r>
              <a:rPr lang="it-IT" dirty="0"/>
              <a:t> or </a:t>
            </a:r>
            <a:r>
              <a:rPr lang="it-IT" dirty="0" err="1"/>
              <a:t>establish</a:t>
            </a:r>
            <a:r>
              <a:rPr lang="it-IT" dirty="0"/>
              <a:t> a connection </a:t>
            </a:r>
            <a:r>
              <a:rPr lang="it-IT" dirty="0" err="1"/>
              <a:t>between</a:t>
            </a:r>
            <a:r>
              <a:rPr lang="it-IT" dirty="0"/>
              <a:t> words like </a:t>
            </a:r>
            <a:r>
              <a:rPr lang="it-IT" dirty="0" err="1"/>
              <a:t>oldest</a:t>
            </a:r>
            <a:r>
              <a:rPr lang="it-IT" dirty="0"/>
              <a:t> and </a:t>
            </a:r>
            <a:r>
              <a:rPr lang="it-IT" dirty="0" err="1"/>
              <a:t>newest</a:t>
            </a:r>
            <a:r>
              <a:rPr lang="it-IT" dirty="0"/>
              <a:t> and an </a:t>
            </a:r>
            <a:r>
              <a:rPr lang="it-IT" dirty="0" err="1"/>
              <a:t>ordered</a:t>
            </a:r>
            <a:r>
              <a:rPr lang="it-IT" dirty="0"/>
              <a:t> list. </a:t>
            </a:r>
          </a:p>
        </p:txBody>
      </p:sp>
    </p:spTree>
    <p:extLst>
      <p:ext uri="{BB962C8B-B14F-4D97-AF65-F5344CB8AC3E}">
        <p14:creationId xmlns:p14="http://schemas.microsoft.com/office/powerpoint/2010/main" val="2451311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 descr="The diagram illustrates a bar chart comparing the number of correct responses to a question before and after the evolution of the prompt, showing an improvement in performance.&#10;&#10;Il contenuto generato dall'IA potrebbe non essere corretto.">
            <a:extLst>
              <a:ext uri="{FF2B5EF4-FFF2-40B4-BE49-F238E27FC236}">
                <a16:creationId xmlns:a16="http://schemas.microsoft.com/office/drawing/2014/main" id="{1F1F5C56-D5C7-6791-66A6-358684BBF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6" r="1" b="1"/>
          <a:stretch>
            <a:fillRect/>
          </a:stretch>
        </p:blipFill>
        <p:spPr>
          <a:xfrm>
            <a:off x="-1" y="914399"/>
            <a:ext cx="6657255" cy="535352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052531-D50B-3899-B150-D05525F4F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6267922"/>
            <a:ext cx="6656832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F1654B6-02C3-A37D-6CC9-20E555AA4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5150" y="1113799"/>
            <a:ext cx="4261104" cy="41218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To </a:t>
            </a:r>
            <a:r>
              <a:rPr lang="it-IT" dirty="0" err="1"/>
              <a:t>confirm</a:t>
            </a:r>
            <a:r>
              <a:rPr lang="it-IT" dirty="0"/>
              <a:t> the model </a:t>
            </a:r>
            <a:r>
              <a:rPr lang="it-IT" dirty="0" err="1"/>
              <a:t>collapse</a:t>
            </a:r>
            <a:r>
              <a:rPr lang="it-IT" dirty="0"/>
              <a:t> </a:t>
            </a:r>
            <a:r>
              <a:rPr lang="it-IT" dirty="0" err="1"/>
              <a:t>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real</a:t>
            </a:r>
            <a:r>
              <a:rPr lang="it-IT" dirty="0"/>
              <a:t> performance </a:t>
            </a:r>
            <a:r>
              <a:rPr lang="it-IT" dirty="0" err="1"/>
              <a:t>analysis</a:t>
            </a:r>
            <a:r>
              <a:rPr lang="it-IT" dirty="0"/>
              <a:t> </a:t>
            </a:r>
            <a:r>
              <a:rPr lang="it-IT" dirty="0" err="1"/>
              <a:t>taken</a:t>
            </a:r>
            <a:r>
              <a:rPr lang="it-IT" dirty="0"/>
              <a:t> from the </a:t>
            </a:r>
            <a:r>
              <a:rPr lang="it-IT" dirty="0" err="1"/>
              <a:t>experiment</a:t>
            </a:r>
            <a:r>
              <a:rPr lang="it-IT" dirty="0"/>
              <a:t>: </a:t>
            </a:r>
            <a:r>
              <a:rPr lang="it-IT" dirty="0" err="1"/>
              <a:t>while</a:t>
            </a:r>
            <a:r>
              <a:rPr lang="it-IT" dirty="0"/>
              <a:t> the prompt </a:t>
            </a:r>
            <a:r>
              <a:rPr lang="it-IT" dirty="0" err="1"/>
              <a:t>performs</a:t>
            </a:r>
            <a:r>
              <a:rPr lang="it-IT" dirty="0"/>
              <a:t> </a:t>
            </a:r>
            <a:r>
              <a:rPr lang="it-IT" dirty="0" err="1"/>
              <a:t>better</a:t>
            </a:r>
            <a:r>
              <a:rPr lang="it-IT" dirty="0"/>
              <a:t> </a:t>
            </a:r>
            <a:r>
              <a:rPr lang="it-IT" dirty="0" err="1"/>
              <a:t>during</a:t>
            </a:r>
            <a:r>
              <a:rPr lang="it-IT" dirty="0"/>
              <a:t> the training,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fails</a:t>
            </a:r>
            <a:r>
              <a:rPr lang="it-IT" dirty="0"/>
              <a:t> </a:t>
            </a:r>
            <a:r>
              <a:rPr lang="it-IT" dirty="0" err="1"/>
              <a:t>because</a:t>
            </a:r>
            <a:r>
              <a:rPr lang="it-IT" dirty="0"/>
              <a:t> the </a:t>
            </a:r>
            <a:r>
              <a:rPr lang="it-IT" dirty="0" err="1"/>
              <a:t>judge</a:t>
            </a:r>
            <a:r>
              <a:rPr lang="it-IT" dirty="0"/>
              <a:t> misses the </a:t>
            </a:r>
            <a:r>
              <a:rPr lang="it-IT" dirty="0" err="1"/>
              <a:t>evaluation</a:t>
            </a:r>
            <a:r>
              <a:rPr lang="it-IT" dirty="0"/>
              <a:t> </a:t>
            </a:r>
            <a:r>
              <a:rPr lang="it-IT" dirty="0" err="1"/>
              <a:t>completely</a:t>
            </a:r>
            <a:r>
              <a:rPr lang="it-IT" dirty="0"/>
              <a:t>.</a:t>
            </a:r>
          </a:p>
          <a:p>
            <a:pPr marL="0" indent="0">
              <a:buNone/>
            </a:pP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next</a:t>
            </a:r>
            <a:r>
              <a:rPr lang="it-IT" dirty="0"/>
              <a:t> step, an </a:t>
            </a:r>
            <a:r>
              <a:rPr lang="it-IT" dirty="0" err="1"/>
              <a:t>improvement</a:t>
            </a:r>
            <a:r>
              <a:rPr lang="it-IT" dirty="0"/>
              <a:t> in </a:t>
            </a:r>
            <a:r>
              <a:rPr lang="it-IT" dirty="0" err="1"/>
              <a:t>parameters</a:t>
            </a:r>
            <a:r>
              <a:rPr lang="it-IT" dirty="0"/>
              <a:t> (</a:t>
            </a:r>
            <a:r>
              <a:rPr lang="it-IT" dirty="0" err="1"/>
              <a:t>especially</a:t>
            </a:r>
            <a:r>
              <a:rPr lang="it-IT" dirty="0"/>
              <a:t> for the </a:t>
            </a:r>
            <a:r>
              <a:rPr lang="it-IT" dirty="0" err="1"/>
              <a:t>judge</a:t>
            </a:r>
            <a:r>
              <a:rPr lang="it-IT" dirty="0"/>
              <a:t>)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required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5820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B26C2C9-1232-B617-CB65-00D1241B1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568" y="1371600"/>
            <a:ext cx="5732441" cy="1097280"/>
          </a:xfrm>
        </p:spPr>
        <p:txBody>
          <a:bodyPr>
            <a:normAutofit/>
          </a:bodyPr>
          <a:lstStyle/>
          <a:p>
            <a:r>
              <a:rPr lang="it-IT" dirty="0" err="1"/>
              <a:t>Qwen</a:t>
            </a:r>
            <a:r>
              <a:rPr lang="it-IT" dirty="0"/>
              <a:t> 7B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ACDF8D1-3D4A-EE59-A8C4-7AC25A8E1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14" y="643465"/>
            <a:ext cx="3961260" cy="2663948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8D00D77-D299-4699-8F8E-BD436FF71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86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magine 6">
            <a:extLst>
              <a:ext uri="{FF2B5EF4-FFF2-40B4-BE49-F238E27FC236}">
                <a16:creationId xmlns:a16="http://schemas.microsoft.com/office/drawing/2014/main" id="{062F93C8-D83A-C3E8-8EF9-00E23B4172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3633965"/>
            <a:ext cx="4235624" cy="2160167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260824-DAA1-A16D-1A07-9D7DC11DF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8568" y="2636205"/>
            <a:ext cx="5732441" cy="3661713"/>
          </a:xfrm>
        </p:spPr>
        <p:txBody>
          <a:bodyPr>
            <a:normAutofit/>
          </a:bodyPr>
          <a:lstStyle/>
          <a:p>
            <a:r>
              <a:rPr lang="it-IT" dirty="0"/>
              <a:t>By switching to </a:t>
            </a:r>
            <a:r>
              <a:rPr lang="it-IT" dirty="0" err="1"/>
              <a:t>Qwen</a:t>
            </a:r>
            <a:r>
              <a:rPr lang="it-IT" dirty="0"/>
              <a:t> 7B the performance are </a:t>
            </a:r>
            <a:r>
              <a:rPr lang="it-IT" dirty="0" err="1"/>
              <a:t>much</a:t>
            </a:r>
            <a:r>
              <a:rPr lang="it-IT" dirty="0"/>
              <a:t> </a:t>
            </a:r>
            <a:r>
              <a:rPr lang="it-IT" dirty="0" err="1"/>
              <a:t>higher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the model </a:t>
            </a:r>
            <a:r>
              <a:rPr lang="it-IT" dirty="0" err="1"/>
              <a:t>isn’t</a:t>
            </a:r>
            <a:r>
              <a:rPr lang="it-IT" dirty="0"/>
              <a:t> </a:t>
            </a:r>
            <a:r>
              <a:rPr lang="it-IT" dirty="0" err="1"/>
              <a:t>really</a:t>
            </a:r>
            <a:r>
              <a:rPr lang="it-IT" dirty="0"/>
              <a:t> </a:t>
            </a:r>
            <a:r>
              <a:rPr lang="it-IT" dirty="0" err="1"/>
              <a:t>able</a:t>
            </a:r>
            <a:r>
              <a:rPr lang="it-IT" dirty="0"/>
              <a:t> to </a:t>
            </a:r>
            <a:r>
              <a:rPr lang="it-IT" dirty="0" err="1"/>
              <a:t>evaluate</a:t>
            </a:r>
            <a:r>
              <a:rPr lang="it-IT" dirty="0"/>
              <a:t> </a:t>
            </a:r>
            <a:r>
              <a:rPr lang="it-IT" dirty="0" err="1"/>
              <a:t>answers</a:t>
            </a:r>
            <a:r>
              <a:rPr lang="it-IT" dirty="0"/>
              <a:t>, and shows a </a:t>
            </a:r>
            <a:r>
              <a:rPr lang="it-IT" dirty="0" err="1"/>
              <a:t>problem</a:t>
            </a:r>
            <a:r>
              <a:rPr lang="it-IT" dirty="0"/>
              <a:t> of </a:t>
            </a:r>
            <a:r>
              <a:rPr lang="it-IT" dirty="0" err="1"/>
              <a:t>sycophancy</a:t>
            </a:r>
            <a:r>
              <a:rPr lang="it-IT" dirty="0"/>
              <a:t> </a:t>
            </a:r>
            <a:r>
              <a:rPr lang="it-IT" dirty="0" err="1"/>
              <a:t>where</a:t>
            </a:r>
            <a:r>
              <a:rPr lang="it-IT" dirty="0"/>
              <a:t> the model </a:t>
            </a:r>
            <a:r>
              <a:rPr lang="it-IT" dirty="0" err="1"/>
              <a:t>tend</a:t>
            </a:r>
            <a:r>
              <a:rPr lang="it-IT" dirty="0"/>
              <a:t> to </a:t>
            </a:r>
            <a:r>
              <a:rPr lang="it-IT" dirty="0" err="1"/>
              <a:t>autojustify</a:t>
            </a:r>
            <a:r>
              <a:rPr lang="it-IT" dirty="0"/>
              <a:t>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 </a:t>
            </a:r>
            <a:r>
              <a:rPr lang="it-IT" dirty="0" err="1"/>
              <a:t>reasoning</a:t>
            </a:r>
            <a:r>
              <a:rPr lang="it-IT" dirty="0"/>
              <a:t>. The best prompt catches the max rate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observations</a:t>
            </a:r>
            <a:r>
              <a:rPr lang="it-IT" dirty="0"/>
              <a:t> on the </a:t>
            </a:r>
            <a:r>
              <a:rPr lang="it-IT" dirty="0" err="1"/>
              <a:t>judge</a:t>
            </a:r>
            <a:r>
              <a:rPr lang="it-IT" dirty="0"/>
              <a:t> </a:t>
            </a:r>
            <a:r>
              <a:rPr lang="it-IT" dirty="0" err="1"/>
              <a:t>imply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tends</a:t>
            </a:r>
            <a:r>
              <a:rPr lang="it-IT" dirty="0"/>
              <a:t> to pass an </a:t>
            </a:r>
            <a:r>
              <a:rPr lang="it-IT" dirty="0" err="1"/>
              <a:t>answer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correct</a:t>
            </a:r>
            <a:r>
              <a:rPr lang="it-IT" dirty="0"/>
              <a:t> </a:t>
            </a:r>
            <a:r>
              <a:rPr lang="it-IT" dirty="0" err="1"/>
              <a:t>even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the model </a:t>
            </a:r>
            <a:r>
              <a:rPr lang="it-IT" dirty="0" err="1"/>
              <a:t>hallucinates</a:t>
            </a:r>
            <a:r>
              <a:rPr lang="it-IT" dirty="0"/>
              <a:t> on the </a:t>
            </a:r>
            <a:r>
              <a:rPr lang="it-IT" dirty="0" err="1"/>
              <a:t>reasoning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8512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457317-E747-C561-78DC-94489AC11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Hallucination</a:t>
            </a:r>
            <a:r>
              <a:rPr lang="it-IT" dirty="0"/>
              <a:t> in </a:t>
            </a:r>
            <a:r>
              <a:rPr lang="it-IT" dirty="0" err="1"/>
              <a:t>llm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judge</a:t>
            </a:r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8D4ED0E-7AD3-C2DC-0291-2FA85AEC8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8005" y="2764971"/>
            <a:ext cx="6325146" cy="272142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69E95558-10CC-3805-E2A7-84F0E923C7D7}"/>
              </a:ext>
            </a:extLst>
          </p:cNvPr>
          <p:cNvSpPr txBox="1"/>
          <p:nvPr/>
        </p:nvSpPr>
        <p:spPr>
          <a:xfrm>
            <a:off x="950686" y="2764971"/>
            <a:ext cx="48482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While</a:t>
            </a:r>
            <a:r>
              <a:rPr lang="it-IT" dirty="0"/>
              <a:t> the </a:t>
            </a:r>
            <a:r>
              <a:rPr lang="it-IT" dirty="0" err="1"/>
              <a:t>reasoning</a:t>
            </a:r>
            <a:r>
              <a:rPr lang="it-IT" dirty="0"/>
              <a:t> model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pretty</a:t>
            </a:r>
            <a:r>
              <a:rPr lang="it-IT" dirty="0"/>
              <a:t> good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reasoning</a:t>
            </a:r>
            <a:r>
              <a:rPr lang="it-IT" dirty="0"/>
              <a:t>, the </a:t>
            </a:r>
            <a:r>
              <a:rPr lang="it-IT" dirty="0" err="1"/>
              <a:t>judge</a:t>
            </a:r>
            <a:r>
              <a:rPr lang="it-IT" dirty="0"/>
              <a:t> </a:t>
            </a:r>
            <a:r>
              <a:rPr lang="it-IT" dirty="0" err="1"/>
              <a:t>struggles</a:t>
            </a:r>
            <a:r>
              <a:rPr lang="it-IT" dirty="0"/>
              <a:t>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it’s</a:t>
            </a:r>
            <a:r>
              <a:rPr lang="it-IT" dirty="0"/>
              <a:t> </a:t>
            </a:r>
            <a:r>
              <a:rPr lang="it-IT" dirty="0" err="1"/>
              <a:t>presented</a:t>
            </a:r>
            <a:r>
              <a:rPr lang="it-IT" dirty="0"/>
              <a:t> with a </a:t>
            </a:r>
            <a:r>
              <a:rPr lang="it-IT" dirty="0" err="1"/>
              <a:t>correct</a:t>
            </a:r>
            <a:r>
              <a:rPr lang="it-IT" dirty="0"/>
              <a:t> </a:t>
            </a:r>
            <a:r>
              <a:rPr lang="it-IT" dirty="0" err="1"/>
              <a:t>answer</a:t>
            </a:r>
            <a:r>
              <a:rPr lang="it-IT" dirty="0"/>
              <a:t> and a list, to link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together</a:t>
            </a:r>
            <a:r>
              <a:rPr lang="it-IT" dirty="0"/>
              <a:t> and </a:t>
            </a:r>
            <a:r>
              <a:rPr lang="it-IT" dirty="0" err="1"/>
              <a:t>understand</a:t>
            </a:r>
            <a:r>
              <a:rPr lang="it-IT" dirty="0"/>
              <a:t> </a:t>
            </a:r>
            <a:r>
              <a:rPr lang="it-IT" dirty="0" err="1"/>
              <a:t>their</a:t>
            </a:r>
            <a:r>
              <a:rPr lang="it-IT" dirty="0"/>
              <a:t> relation.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solved</a:t>
            </a:r>
            <a:r>
              <a:rPr lang="it-IT" dirty="0"/>
              <a:t> by </a:t>
            </a:r>
            <a:r>
              <a:rPr lang="it-IT" dirty="0" err="1"/>
              <a:t>asking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to </a:t>
            </a:r>
            <a:r>
              <a:rPr lang="it-IT" dirty="0" err="1"/>
              <a:t>reason</a:t>
            </a:r>
            <a:r>
              <a:rPr lang="it-IT" dirty="0"/>
              <a:t> step by step and </a:t>
            </a:r>
            <a:r>
              <a:rPr lang="it-IT" dirty="0" err="1"/>
              <a:t>adding</a:t>
            </a:r>
            <a:r>
              <a:rPr lang="it-IT" dirty="0"/>
              <a:t> more token for the </a:t>
            </a:r>
            <a:r>
              <a:rPr lang="it-IT" dirty="0" err="1"/>
              <a:t>reasoning</a:t>
            </a:r>
            <a:r>
              <a:rPr lang="it-IT" dirty="0"/>
              <a:t>.</a:t>
            </a:r>
          </a:p>
          <a:p>
            <a:r>
              <a:rPr lang="it-IT" dirty="0"/>
              <a:t>Still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wasn’t</a:t>
            </a:r>
            <a:r>
              <a:rPr lang="it-IT" dirty="0"/>
              <a:t> </a:t>
            </a:r>
            <a:r>
              <a:rPr lang="it-IT" dirty="0" err="1"/>
              <a:t>able</a:t>
            </a:r>
            <a:r>
              <a:rPr lang="it-IT" dirty="0"/>
              <a:t> to </a:t>
            </a:r>
            <a:r>
              <a:rPr lang="it-IT" dirty="0" err="1"/>
              <a:t>carry</a:t>
            </a:r>
            <a:r>
              <a:rPr lang="it-IT" dirty="0"/>
              <a:t> out a </a:t>
            </a:r>
            <a:r>
              <a:rPr lang="it-IT" dirty="0" err="1"/>
              <a:t>correct</a:t>
            </a:r>
            <a:r>
              <a:rPr lang="it-IT" dirty="0"/>
              <a:t> </a:t>
            </a:r>
            <a:r>
              <a:rPr lang="it-IT" dirty="0" err="1"/>
              <a:t>reasoning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tends</a:t>
            </a:r>
            <a:r>
              <a:rPr lang="it-IT" dirty="0"/>
              <a:t> to just </a:t>
            </a:r>
            <a:r>
              <a:rPr lang="it-IT" dirty="0" err="1"/>
              <a:t>answer</a:t>
            </a:r>
            <a:r>
              <a:rPr lang="it-IT" dirty="0"/>
              <a:t> [YES].</a:t>
            </a:r>
          </a:p>
        </p:txBody>
      </p:sp>
    </p:spTree>
    <p:extLst>
      <p:ext uri="{BB962C8B-B14F-4D97-AF65-F5344CB8AC3E}">
        <p14:creationId xmlns:p14="http://schemas.microsoft.com/office/powerpoint/2010/main" val="774271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1D20540-4515-0040-1358-7521D858F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solution: Gemma 9B as a judge</a:t>
            </a:r>
          </a:p>
        </p:txBody>
      </p:sp>
      <p:pic>
        <p:nvPicPr>
          <p:cNvPr id="5" name="Immagine 4" descr="The student's answer incorrectly identifies the sedan as the newest vehicle, whereas the correct order places the sedan as the third-newest.&#10;&#10;Il contenuto generato dall'IA potrebbe non essere corretto.">
            <a:extLst>
              <a:ext uri="{FF2B5EF4-FFF2-40B4-BE49-F238E27FC236}">
                <a16:creationId xmlns:a16="http://schemas.microsoft.com/office/drawing/2014/main" id="{B5ECBDCA-D003-BF4A-8345-934B208F0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2922155"/>
            <a:ext cx="5648193" cy="2428722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529A866-0530-6A25-9B64-0E4BFB18B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cap="all" spc="300" dirty="0"/>
              <a:t>As a solution </a:t>
            </a:r>
            <a:r>
              <a:rPr lang="en-US" b="1" cap="all" spc="300" dirty="0" err="1"/>
              <a:t>i</a:t>
            </a:r>
            <a:r>
              <a:rPr lang="en-US" b="1" cap="all" spc="300" dirty="0"/>
              <a:t> decided to implement gemma 9B as a judge to get rid of the sycophancy problem that the model suffered when auto-evaluating itself. the new judge is less error prone and gives a better analysis overall.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580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4D3E027-A493-E0FB-4E8C-6EC760EF6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9126" y="979051"/>
            <a:ext cx="2811879" cy="1807048"/>
          </a:xfrm>
        </p:spPr>
        <p:txBody>
          <a:bodyPr anchor="b">
            <a:normAutofit/>
          </a:bodyPr>
          <a:lstStyle/>
          <a:p>
            <a:r>
              <a:rPr lang="it-IT" sz="3600"/>
              <a:t>Correct prompt evolver</a:t>
            </a:r>
          </a:p>
        </p:txBody>
      </p:sp>
      <p:pic>
        <p:nvPicPr>
          <p:cNvPr id="5" name="Immagine 4" descr="The diagram shows a bar chart comparing the impact of evolution on performance, with a notable increase in the number of correct responses from 0 to 10.&#10;&#10;Il contenuto generato dall'IA potrebbe non essere corretto.">
            <a:extLst>
              <a:ext uri="{FF2B5EF4-FFF2-40B4-BE49-F238E27FC236}">
                <a16:creationId xmlns:a16="http://schemas.microsoft.com/office/drawing/2014/main" id="{990F1BE3-D034-01C6-AA91-F37C6B6F1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21"/>
          <a:stretch>
            <a:fillRect/>
          </a:stretch>
        </p:blipFill>
        <p:spPr>
          <a:xfrm>
            <a:off x="20" y="535709"/>
            <a:ext cx="8229580" cy="5820640"/>
          </a:xfrm>
          <a:prstGeom prst="rect">
            <a:avLst/>
          </a:prstGeom>
        </p:spPr>
      </p:pic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6FBA023-895F-FC3A-FC06-7F93DBB08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128" y="2922624"/>
            <a:ext cx="2811880" cy="3409950"/>
          </a:xfrm>
        </p:spPr>
        <p:txBody>
          <a:bodyPr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it-IT" sz="1600" dirty="0" err="1"/>
              <a:t>Also</a:t>
            </a:r>
            <a:r>
              <a:rPr lang="it-IT" sz="1600" dirty="0"/>
              <a:t> the prompt evolver </a:t>
            </a:r>
            <a:r>
              <a:rPr lang="it-IT" sz="1600" dirty="0" err="1"/>
              <a:t>was</a:t>
            </a:r>
            <a:r>
              <a:rPr lang="it-IT" sz="1600" dirty="0"/>
              <a:t> </a:t>
            </a:r>
            <a:r>
              <a:rPr lang="it-IT" sz="1600" dirty="0" err="1"/>
              <a:t>switched</a:t>
            </a:r>
            <a:r>
              <a:rPr lang="it-IT" sz="1600" dirty="0"/>
              <a:t> to Gemma 9B so </a:t>
            </a:r>
            <a:r>
              <a:rPr lang="it-IT" sz="1600" dirty="0" err="1"/>
              <a:t>even</a:t>
            </a:r>
            <a:r>
              <a:rPr lang="it-IT" sz="1600" dirty="0"/>
              <a:t> </a:t>
            </a:r>
            <a:r>
              <a:rPr lang="it-IT" sz="1600" dirty="0" err="1"/>
              <a:t>smaller</a:t>
            </a:r>
            <a:r>
              <a:rPr lang="it-IT" sz="1600" dirty="0"/>
              <a:t> models </a:t>
            </a:r>
            <a:r>
              <a:rPr lang="it-IT" sz="1600" dirty="0" err="1"/>
              <a:t>could</a:t>
            </a:r>
            <a:r>
              <a:rPr lang="it-IT" sz="1600" dirty="0"/>
              <a:t> </a:t>
            </a:r>
            <a:r>
              <a:rPr lang="it-IT" sz="1600" dirty="0" err="1"/>
              <a:t>attempt</a:t>
            </a:r>
            <a:r>
              <a:rPr lang="it-IT" sz="1600" dirty="0"/>
              <a:t> </a:t>
            </a:r>
            <a:r>
              <a:rPr lang="it-IT" sz="1600" dirty="0" err="1"/>
              <a:t>reasoning</a:t>
            </a:r>
            <a:r>
              <a:rPr lang="it-IT" sz="1600" dirty="0"/>
              <a:t> tasks. In </a:t>
            </a:r>
            <a:r>
              <a:rPr lang="it-IT" sz="1600" dirty="0" err="1"/>
              <a:t>fact</a:t>
            </a:r>
            <a:r>
              <a:rPr lang="it-IT" sz="1600" dirty="0"/>
              <a:t> </a:t>
            </a:r>
            <a:r>
              <a:rPr lang="it-IT" sz="1600" dirty="0" err="1"/>
              <a:t>smaller</a:t>
            </a:r>
            <a:r>
              <a:rPr lang="it-IT" sz="1600" dirty="0"/>
              <a:t> models </a:t>
            </a:r>
            <a:r>
              <a:rPr lang="it-IT" sz="1600" dirty="0" err="1"/>
              <a:t>were</a:t>
            </a:r>
            <a:r>
              <a:rPr lang="it-IT" sz="1600" dirty="0"/>
              <a:t> </a:t>
            </a:r>
            <a:r>
              <a:rPr lang="it-IT" sz="1600" dirty="0" err="1"/>
              <a:t>not</a:t>
            </a:r>
            <a:r>
              <a:rPr lang="it-IT" sz="1600" dirty="0"/>
              <a:t> </a:t>
            </a:r>
            <a:r>
              <a:rPr lang="it-IT" sz="1600" dirty="0" err="1"/>
              <a:t>able</a:t>
            </a:r>
            <a:r>
              <a:rPr lang="it-IT" sz="1600" dirty="0"/>
              <a:t> to </a:t>
            </a:r>
            <a:r>
              <a:rPr lang="it-IT" sz="1600" dirty="0" err="1"/>
              <a:t>adapt</a:t>
            </a:r>
            <a:r>
              <a:rPr lang="it-IT" sz="1600" dirty="0"/>
              <a:t> and evolve tasks in a general way and to </a:t>
            </a:r>
            <a:r>
              <a:rPr lang="it-IT" sz="1600" dirty="0" err="1"/>
              <a:t>reason</a:t>
            </a:r>
            <a:r>
              <a:rPr lang="it-IT" sz="1600" dirty="0"/>
              <a:t> </a:t>
            </a:r>
            <a:r>
              <a:rPr lang="it-IT" sz="1600" dirty="0" err="1"/>
              <a:t>about</a:t>
            </a:r>
            <a:r>
              <a:rPr lang="it-IT" sz="1600" dirty="0"/>
              <a:t> the dynamics </a:t>
            </a:r>
            <a:r>
              <a:rPr lang="it-IT" sz="1600" dirty="0" err="1"/>
              <a:t>that</a:t>
            </a:r>
            <a:r>
              <a:rPr lang="it-IT" sz="1600" dirty="0"/>
              <a:t> </a:t>
            </a:r>
            <a:r>
              <a:rPr lang="it-IT" sz="1600" dirty="0" err="1"/>
              <a:t>let</a:t>
            </a:r>
            <a:r>
              <a:rPr lang="it-IT" sz="1600" dirty="0"/>
              <a:t> the </a:t>
            </a:r>
            <a:r>
              <a:rPr lang="it-IT" sz="1600" dirty="0" err="1"/>
              <a:t>reasoning</a:t>
            </a:r>
            <a:r>
              <a:rPr lang="it-IT" sz="1600" dirty="0"/>
              <a:t> </a:t>
            </a:r>
            <a:r>
              <a:rPr lang="it-IT" sz="1600" dirty="0" err="1"/>
              <a:t>fail</a:t>
            </a:r>
            <a:r>
              <a:rPr lang="it-IT" sz="1600" dirty="0"/>
              <a:t>. After </a:t>
            </a:r>
            <a:r>
              <a:rPr lang="it-IT" sz="1600" dirty="0" err="1"/>
              <a:t>all</a:t>
            </a:r>
            <a:r>
              <a:rPr lang="it-IT" sz="1600" dirty="0"/>
              <a:t> </a:t>
            </a:r>
            <a:r>
              <a:rPr lang="it-IT" sz="1600" dirty="0" err="1"/>
              <a:t>those</a:t>
            </a:r>
            <a:r>
              <a:rPr lang="it-IT" sz="1600" dirty="0"/>
              <a:t> </a:t>
            </a:r>
            <a:r>
              <a:rPr lang="it-IT" sz="1600" dirty="0" err="1"/>
              <a:t>changes</a:t>
            </a:r>
            <a:r>
              <a:rPr lang="it-IT" sz="1600" dirty="0"/>
              <a:t> the </a:t>
            </a:r>
            <a:r>
              <a:rPr lang="it-IT" sz="1600" dirty="0" err="1"/>
              <a:t>final</a:t>
            </a:r>
            <a:r>
              <a:rPr lang="it-IT" sz="1600" dirty="0"/>
              <a:t> score </a:t>
            </a:r>
            <a:r>
              <a:rPr lang="it-IT" sz="1600" dirty="0" err="1"/>
              <a:t>is</a:t>
            </a:r>
            <a:r>
              <a:rPr lang="it-IT" sz="16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530881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0F14820-2AD4-A773-A79D-6971B2F62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7528" y="1032764"/>
            <a:ext cx="4308672" cy="3224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ProTeGi to increase prompt evolution</a:t>
            </a:r>
          </a:p>
        </p:txBody>
      </p:sp>
      <p:pic>
        <p:nvPicPr>
          <p:cNvPr id="5" name="Picture 4" descr="Modello di scale 3D">
            <a:extLst>
              <a:ext uri="{FF2B5EF4-FFF2-40B4-BE49-F238E27FC236}">
                <a16:creationId xmlns:a16="http://schemas.microsoft.com/office/drawing/2014/main" id="{35BFE058-E5E7-31BD-729F-DA266DD4A0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32" r="8768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58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E356E88-F073-D96A-CD36-7CADFEC59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36" y="1566672"/>
            <a:ext cx="10890928" cy="3566160"/>
          </a:xfrm>
        </p:spPr>
        <p:txBody>
          <a:bodyPr>
            <a:normAutofit lnSpcReduction="10000"/>
          </a:bodyPr>
          <a:lstStyle/>
          <a:p>
            <a:r>
              <a:rPr lang="it-IT" dirty="0"/>
              <a:t>The last </a:t>
            </a:r>
            <a:r>
              <a:rPr lang="it-IT" dirty="0" err="1"/>
              <a:t>problem</a:t>
            </a:r>
            <a:r>
              <a:rPr lang="it-IT" dirty="0"/>
              <a:t> to solve </a:t>
            </a:r>
            <a:r>
              <a:rPr lang="it-IT" dirty="0" err="1"/>
              <a:t>was</a:t>
            </a:r>
            <a:r>
              <a:rPr lang="it-IT" dirty="0"/>
              <a:t> the prompt evolver </a:t>
            </a:r>
            <a:r>
              <a:rPr lang="it-IT" dirty="0" err="1"/>
              <a:t>overfitting</a:t>
            </a:r>
            <a:r>
              <a:rPr lang="it-IT" dirty="0"/>
              <a:t> to the </a:t>
            </a:r>
            <a:r>
              <a:rPr lang="it-IT" dirty="0" err="1"/>
              <a:t>specific</a:t>
            </a:r>
            <a:r>
              <a:rPr lang="it-IT" dirty="0"/>
              <a:t> </a:t>
            </a:r>
            <a:r>
              <a:rPr lang="it-IT" dirty="0" err="1"/>
              <a:t>answer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tried</a:t>
            </a:r>
            <a:r>
              <a:rPr lang="it-IT" dirty="0"/>
              <a:t> to solve, </a:t>
            </a:r>
            <a:r>
              <a:rPr lang="it-IT" dirty="0" err="1"/>
              <a:t>presenting</a:t>
            </a:r>
            <a:r>
              <a:rPr lang="it-IT" dirty="0"/>
              <a:t> a new prompt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specific</a:t>
            </a:r>
            <a:r>
              <a:rPr lang="it-IT" dirty="0"/>
              <a:t> to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question</a:t>
            </a:r>
            <a:endParaRPr lang="it-IT" dirty="0"/>
          </a:p>
          <a:p>
            <a:r>
              <a:rPr lang="it-IT" dirty="0"/>
              <a:t>To solve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ProTeGi</a:t>
            </a:r>
            <a:r>
              <a:rPr lang="it-IT" dirty="0"/>
              <a:t>(Prompt </a:t>
            </a:r>
            <a:r>
              <a:rPr lang="it-IT" dirty="0" err="1"/>
              <a:t>optimization</a:t>
            </a:r>
            <a:r>
              <a:rPr lang="it-IT" dirty="0"/>
              <a:t> with </a:t>
            </a:r>
            <a:r>
              <a:rPr lang="it-IT" dirty="0" err="1"/>
              <a:t>textual</a:t>
            </a:r>
            <a:r>
              <a:rPr lang="it-IT" dirty="0"/>
              <a:t> </a:t>
            </a:r>
            <a:r>
              <a:rPr lang="it-IT" dirty="0" err="1"/>
              <a:t>gradients</a:t>
            </a:r>
            <a:r>
              <a:rPr lang="it-IT" dirty="0"/>
              <a:t>)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used</a:t>
            </a:r>
            <a:r>
              <a:rPr lang="it-IT" dirty="0"/>
              <a:t>, </a:t>
            </a:r>
            <a:r>
              <a:rPr lang="it-IT" dirty="0" err="1"/>
              <a:t>using</a:t>
            </a:r>
            <a:r>
              <a:rPr lang="it-IT" dirty="0"/>
              <a:t> a </a:t>
            </a:r>
            <a:r>
              <a:rPr lang="it-IT" dirty="0" err="1"/>
              <a:t>two</a:t>
            </a:r>
            <a:r>
              <a:rPr lang="it-IT" dirty="0"/>
              <a:t> step pipeline</a:t>
            </a:r>
          </a:p>
          <a:p>
            <a:r>
              <a:rPr lang="it-IT" dirty="0"/>
              <a:t>In the first step the </a:t>
            </a:r>
            <a:r>
              <a:rPr lang="it-IT" dirty="0" err="1"/>
              <a:t>failure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analyzed</a:t>
            </a:r>
            <a:r>
              <a:rPr lang="it-IT" dirty="0"/>
              <a:t> by the evolver, and the </a:t>
            </a:r>
            <a:r>
              <a:rPr lang="it-IT" dirty="0" err="1"/>
              <a:t>reason</a:t>
            </a:r>
            <a:r>
              <a:rPr lang="it-IT" dirty="0"/>
              <a:t> of the </a:t>
            </a:r>
            <a:r>
              <a:rPr lang="it-IT" dirty="0" err="1"/>
              <a:t>error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</a:t>
            </a:r>
            <a:r>
              <a:rPr lang="it-IT" dirty="0" err="1"/>
              <a:t>extracted</a:t>
            </a:r>
            <a:r>
              <a:rPr lang="it-IT" dirty="0"/>
              <a:t>.</a:t>
            </a:r>
          </a:p>
          <a:p>
            <a:r>
              <a:rPr lang="it-IT" dirty="0"/>
              <a:t>In the second step the prompt </a:t>
            </a:r>
            <a:r>
              <a:rPr lang="it-IT" dirty="0" err="1"/>
              <a:t>received</a:t>
            </a:r>
            <a:r>
              <a:rPr lang="it-IT" dirty="0"/>
              <a:t> from the evolver </a:t>
            </a:r>
            <a:r>
              <a:rPr lang="it-IT" dirty="0" err="1"/>
              <a:t>contains</a:t>
            </a:r>
            <a:r>
              <a:rPr lang="it-IT" dirty="0"/>
              <a:t> the </a:t>
            </a:r>
            <a:r>
              <a:rPr lang="it-IT" dirty="0" err="1"/>
              <a:t>abstraction</a:t>
            </a:r>
            <a:r>
              <a:rPr lang="it-IT" dirty="0"/>
              <a:t> of the </a:t>
            </a:r>
            <a:r>
              <a:rPr lang="it-IT" dirty="0" err="1"/>
              <a:t>error</a:t>
            </a:r>
            <a:r>
              <a:rPr lang="it-IT" dirty="0"/>
              <a:t> and the </a:t>
            </a:r>
            <a:r>
              <a:rPr lang="it-IT" dirty="0" err="1"/>
              <a:t>failed</a:t>
            </a:r>
            <a:r>
              <a:rPr lang="it-IT" dirty="0"/>
              <a:t> prompt,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directly</a:t>
            </a:r>
            <a:r>
              <a:rPr lang="it-IT" dirty="0"/>
              <a:t> </a:t>
            </a:r>
            <a:r>
              <a:rPr lang="it-IT" dirty="0" err="1"/>
              <a:t>passing</a:t>
            </a:r>
            <a:r>
              <a:rPr lang="it-IT" dirty="0"/>
              <a:t> the </a:t>
            </a:r>
            <a:r>
              <a:rPr lang="it-IT" dirty="0" err="1"/>
              <a:t>question</a:t>
            </a:r>
            <a:r>
              <a:rPr lang="it-IT" dirty="0"/>
              <a:t>.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showed</a:t>
            </a:r>
            <a:r>
              <a:rPr lang="it-IT" dirty="0"/>
              <a:t> an </a:t>
            </a:r>
            <a:r>
              <a:rPr lang="it-IT" dirty="0" err="1"/>
              <a:t>improvement</a:t>
            </a:r>
            <a:r>
              <a:rPr lang="it-IT" dirty="0"/>
              <a:t> in the overall prompt production,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doesn’t</a:t>
            </a:r>
            <a:r>
              <a:rPr lang="it-IT" dirty="0"/>
              <a:t> </a:t>
            </a:r>
            <a:r>
              <a:rPr lang="it-IT" dirty="0" err="1"/>
              <a:t>overfit</a:t>
            </a:r>
            <a:r>
              <a:rPr lang="it-IT" dirty="0"/>
              <a:t> </a:t>
            </a:r>
            <a:r>
              <a:rPr lang="it-IT" dirty="0" err="1"/>
              <a:t>anymore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630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47A449-886C-4446-7510-00AC4067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implementation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8903AB-A5D6-C016-588C-7BE08419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After </a:t>
            </a:r>
            <a:r>
              <a:rPr lang="it-IT" dirty="0" err="1"/>
              <a:t>all</a:t>
            </a:r>
            <a:r>
              <a:rPr lang="it-IT" dirty="0"/>
              <a:t> the setting and </a:t>
            </a:r>
            <a:r>
              <a:rPr lang="it-IT" dirty="0" err="1"/>
              <a:t>adjustment</a:t>
            </a:r>
            <a:r>
              <a:rPr lang="it-IT" dirty="0"/>
              <a:t>, the </a:t>
            </a:r>
            <a:r>
              <a:rPr lang="it-IT" dirty="0" err="1"/>
              <a:t>final</a:t>
            </a:r>
            <a:r>
              <a:rPr lang="it-IT" dirty="0"/>
              <a:t> </a:t>
            </a:r>
            <a:r>
              <a:rPr lang="it-IT" dirty="0" err="1"/>
              <a:t>implementation</a:t>
            </a:r>
            <a:r>
              <a:rPr lang="it-IT" dirty="0"/>
              <a:t> </a:t>
            </a:r>
            <a:r>
              <a:rPr lang="it-IT" dirty="0" err="1"/>
              <a:t>uses</a:t>
            </a:r>
            <a:r>
              <a:rPr lang="it-IT" dirty="0"/>
              <a:t>:</a:t>
            </a:r>
          </a:p>
          <a:p>
            <a:r>
              <a:rPr lang="it-IT" dirty="0"/>
              <a:t>A </a:t>
            </a:r>
            <a:r>
              <a:rPr lang="it-IT" dirty="0" err="1"/>
              <a:t>member</a:t>
            </a:r>
            <a:r>
              <a:rPr lang="it-IT" dirty="0"/>
              <a:t> of </a:t>
            </a:r>
            <a:r>
              <a:rPr lang="it-IT" dirty="0" err="1"/>
              <a:t>Qwen</a:t>
            </a:r>
            <a:r>
              <a:rPr lang="it-IT" dirty="0"/>
              <a:t> family </a:t>
            </a:r>
            <a:r>
              <a:rPr lang="it-IT" dirty="0" err="1"/>
              <a:t>as</a:t>
            </a:r>
            <a:r>
              <a:rPr lang="it-IT" dirty="0"/>
              <a:t> the </a:t>
            </a:r>
            <a:r>
              <a:rPr lang="it-IT" dirty="0" err="1"/>
              <a:t>student</a:t>
            </a:r>
            <a:r>
              <a:rPr lang="it-IT" dirty="0"/>
              <a:t>/</a:t>
            </a:r>
            <a:r>
              <a:rPr lang="it-IT" dirty="0" err="1"/>
              <a:t>reasoner</a:t>
            </a:r>
            <a:endParaRPr lang="it-IT" dirty="0"/>
          </a:p>
          <a:p>
            <a:r>
              <a:rPr lang="it-IT" dirty="0"/>
              <a:t>Gemma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judge</a:t>
            </a:r>
            <a:r>
              <a:rPr lang="it-IT" dirty="0"/>
              <a:t>/</a:t>
            </a:r>
            <a:r>
              <a:rPr lang="it-IT" dirty="0" err="1"/>
              <a:t>evaluator</a:t>
            </a:r>
            <a:endParaRPr lang="it-IT" dirty="0"/>
          </a:p>
          <a:p>
            <a:r>
              <a:rPr lang="it-IT" dirty="0"/>
              <a:t>Gemma </a:t>
            </a:r>
            <a:r>
              <a:rPr lang="it-IT" dirty="0" err="1"/>
              <a:t>as</a:t>
            </a:r>
            <a:r>
              <a:rPr lang="it-IT" dirty="0"/>
              <a:t> the prompt evolver, </a:t>
            </a:r>
            <a:r>
              <a:rPr lang="it-IT" dirty="0" err="1"/>
              <a:t>that</a:t>
            </a:r>
            <a:r>
              <a:rPr lang="it-IT" dirty="0"/>
              <a:t> guide the </a:t>
            </a:r>
            <a:r>
              <a:rPr lang="it-IT" dirty="0" err="1"/>
              <a:t>evolution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255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D38CDFE-361E-350B-9212-B2E8FAE8F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THANKS FOR YOUR ATTENTION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CD1F07CC-2616-58A4-BD11-E640202F2D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50408" y="966978"/>
            <a:ext cx="4873752" cy="48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5599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57175</TotalTime>
  <Words>1349</Words>
  <Application>Microsoft Office PowerPoint</Application>
  <PresentationFormat>Widescreen</PresentationFormat>
  <Paragraphs>58</Paragraphs>
  <Slides>22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6" baseType="lpstr">
      <vt:lpstr>Arial</vt:lpstr>
      <vt:lpstr>Bierstadt</vt:lpstr>
      <vt:lpstr>Grandview Display</vt:lpstr>
      <vt:lpstr>DashVTI</vt:lpstr>
      <vt:lpstr>Natural Language Processing</vt:lpstr>
      <vt:lpstr>Objective</vt:lpstr>
      <vt:lpstr>How the system works</vt:lpstr>
      <vt:lpstr>Answer evaluation</vt:lpstr>
      <vt:lpstr>Prompt evolution</vt:lpstr>
      <vt:lpstr>Metric used</vt:lpstr>
      <vt:lpstr>Qwen</vt:lpstr>
      <vt:lpstr>Visible hallucination</vt:lpstr>
      <vt:lpstr>1.8B model</vt:lpstr>
      <vt:lpstr>Model limit</vt:lpstr>
      <vt:lpstr>Few shot prompting</vt:lpstr>
      <vt:lpstr>Token limit</vt:lpstr>
      <vt:lpstr>Model collapse during reasoning</vt:lpstr>
      <vt:lpstr>Presentazione standard di PowerPoint</vt:lpstr>
      <vt:lpstr>Qwen 7B</vt:lpstr>
      <vt:lpstr>Hallucination in llm as a judge</vt:lpstr>
      <vt:lpstr>The solution: Gemma 9B as a judge</vt:lpstr>
      <vt:lpstr>Correct prompt evolver</vt:lpstr>
      <vt:lpstr>ProTeGi to increase prompt evolution</vt:lpstr>
      <vt:lpstr>Presentazione standard di PowerPoint</vt:lpstr>
      <vt:lpstr>Final implementation</vt:lpstr>
      <vt:lpstr>THANKS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Lanza</dc:creator>
  <cp:lastModifiedBy>Luca Lanza</cp:lastModifiedBy>
  <cp:revision>9</cp:revision>
  <dcterms:created xsi:type="dcterms:W3CDTF">2026-04-11T08:05:25Z</dcterms:created>
  <dcterms:modified xsi:type="dcterms:W3CDTF">2026-05-21T16:05:31Z</dcterms:modified>
</cp:coreProperties>
</file>